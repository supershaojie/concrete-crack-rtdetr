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09d7c9a8e43b6" /><Relationship Type="http://schemas.openxmlformats.org/officeDocument/2006/relationships/extended-properties" Target="/docProps/app.xml" Id="Rbcd28509d7364b2f" /><Relationship Type="http://schemas.openxmlformats.org/officeDocument/2006/relationships/officeDocument" Target="/ppt/presentation.xml" Id="Rf8372a586438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222a526134013"/>
  </p:sldMasterIdLst>
  <p:notesMasterIdLst>
    <p:notesMasterId xmlns:r="http://schemas.openxmlformats.org/officeDocument/2006/relationships" r:id="Raa0e7b60f8eb4c9b"/>
  </p:notesMasterIdLst>
  <p:sldIdLst>
    <p:sldId xmlns:r="http://schemas.openxmlformats.org/officeDocument/2006/relationships" id="256" r:id="R6cfe6bd223ec429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7f952e44a4c07" /><Relationship Type="http://schemas.openxmlformats.org/officeDocument/2006/relationships/slideMaster" Target="/ppt/slideMasters/slideMaster1.xml" Id="R010222a526134013" /><Relationship Type="http://schemas.openxmlformats.org/officeDocument/2006/relationships/notesMaster" Target="/ppt/notesMasters/notesMaster1.xml" Id="Raa0e7b60f8eb4c9b" /><Relationship Type="http://schemas.openxmlformats.org/officeDocument/2006/relationships/presProps" Target="/ppt/presProps.xml" Id="Rb205c6217fe84eda" /><Relationship Type="http://schemas.openxmlformats.org/officeDocument/2006/relationships/tableStyles" Target="/ppt/tableStyles.xml" Id="R0159bdd97adb4e1e" /><Relationship Type="http://schemas.openxmlformats.org/officeDocument/2006/relationships/slide" Target="/ppt/slides/slide1.xml" Id="R6cfe6bd223ec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bc745a012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c4f15ce194ccb" /><Relationship Type="http://schemas.openxmlformats.org/officeDocument/2006/relationships/notesMaster" Target="/ppt/notesMasters/notesMaster1.xml" Id="Re38bc8e54533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D:\MyProjects\Crack_RTDETR\ultralytics-main\ultralytics\nn\modules\cscef_v2.py (audited CSCEF-v2 forward path and parameter bounds)</a:t>
            </a:r>
          </a:p>
          <a:p xmlns:a="http://schemas.openxmlformats.org/drawingml/2006/main">
            <a:r>
              <a:t>- D:\MyProjects\Crack_RTDETR\ultralytics-main\ultralytics\cfg\models\rt-detr\rtdetr-resnet18-lite-cscef-v2.yaml (S3/P4 wiring around layer 18)</a:t>
            </a:r>
          </a:p>
          <a:p xmlns:a="http://schemas.openxmlformats.org/drawingml/2006/main">
            <a:r>
              <a:t>- D:\MyProjects\Crack_RTDETR\docs\figures\cscef\CSCEF_Module_Diagram_ThreeLayerGate_Star_Editable.pptx (visual reference and inherited slide frame)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ea52a4e68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e05af58f941e9" /><Relationship Type="http://schemas.openxmlformats.org/officeDocument/2006/relationships/slideLayout" Target="/ppt/slideLayouts/slideLayout1.xml" Id="R88cc404283ae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c404283ae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5410795e4942" /><Relationship Type="http://schemas.openxmlformats.org/officeDocument/2006/relationships/notesSlide" Target="/ppt/notesSlides/notesSlide1.xml" Id="R4b43db2c72a84e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cscef-outer-boundary">
            <a:extLst xmlns:a="http://schemas.openxmlformats.org/drawingml/2006/main">
              <a:ext uri="{FF2B5EF4-FFF2-40B4-BE49-F238E27FC236}">
                <a16:creationId xmlns:a16="http://schemas.microsoft.com/office/drawing/2014/main" id="{DC3EE427-1065-46BF-B0BE-0DF04CF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14400"/>
            <a:ext cx="12239625" cy="7277100"/>
          </a:xfrm>
          <a:prstGeom xmlns:a="http://schemas.openxmlformats.org/drawingml/2006/main" prst="roundRect">
            <a:avLst>
              <a:gd name="adj" fmla="val 2356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718496"/>
            </a:solidFill>
            <a:prstDash val="dash"/>
          </a:ln>
        </p:spPr>
      </p:sp>
      <p:sp>
        <p:nvSpPr>
          <p:cNvPr id="2" name="edge-band">
            <a:extLst xmlns:a="http://schemas.openxmlformats.org/drawingml/2006/main">
              <a:ext uri="{FF2B5EF4-FFF2-40B4-BE49-F238E27FC236}">
                <a16:creationId xmlns:a16="http://schemas.microsoft.com/office/drawing/2014/main" id="{88627B44-627D-4E1A-9A04-53065874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57300"/>
            <a:ext cx="8858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3F6"/>
          </a:solidFill>
          <a:ln xmlns:a="http://schemas.openxmlformats.org/drawingml/2006/main" w="14288">
            <a:solidFill>
              <a:srgbClr val="B85F72"/>
            </a:solidFill>
            <a:prstDash val="dash"/>
          </a:ln>
        </p:spPr>
      </p:sp>
      <p:sp>
        <p:nvSpPr>
          <p:cNvPr id="3" name="semantic-band">
            <a:extLst xmlns:a="http://schemas.openxmlformats.org/drawingml/2006/main">
              <a:ext uri="{FF2B5EF4-FFF2-40B4-BE49-F238E27FC236}">
                <a16:creationId xmlns:a16="http://schemas.microsoft.com/office/drawing/2014/main" id="{8B23B6C4-6739-45A1-A68F-CAEF52C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00500"/>
            <a:ext cx="8858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3FAF1"/>
          </a:solidFill>
          <a:ln xmlns:a="http://schemas.openxmlformats.org/drawingml/2006/main" w="14288">
            <a:solidFill>
              <a:srgbClr val="5D9556"/>
            </a:solidFill>
            <a:prstDash val="dash"/>
          </a:ln>
        </p:spPr>
      </p:sp>
      <p:sp>
        <p:nvSpPr>
          <p:cNvPr id="4" name="fusion-band">
            <a:extLst xmlns:a="http://schemas.openxmlformats.org/drawingml/2006/main">
              <a:ext uri="{FF2B5EF4-FFF2-40B4-BE49-F238E27FC236}">
                <a16:creationId xmlns:a16="http://schemas.microsoft.com/office/drawing/2014/main" id="{F434B959-7A52-434B-9074-E3E310E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143625"/>
            <a:ext cx="4714875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3FB"/>
          </a:solidFill>
          <a:ln xmlns:a="http://schemas.openxmlformats.org/drawingml/2006/main" w="14288">
            <a:solidFill>
              <a:srgbClr val="866AA0"/>
            </a:solidFill>
            <a:prstDash val="dash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351E807-D06E-4224-B3A2-D2A1D8CE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1200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8374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1">
                <a:solidFill>
                  <a:srgbClr val="283744"/>
                </a:solidFill>
                <a:latin typeface="Calibri Light"/>
                <a:ea typeface="Calibri Light"/>
                <a:cs typeface="Calibri Light"/>
              </a:rPr>
              <a:t>Cross-Scale Semantic-Consistency Edge Fusion v2</a:t>
            </a:r>
          </a:p>
        </p:txBody>
      </p:sp>
      <p:sp>
        <p:nvSpPr>
          <p:cNvPr id="6" name="acronym">
            <a:extLst xmlns:a="http://schemas.openxmlformats.org/drawingml/2006/main">
              <a:ext uri="{FF2B5EF4-FFF2-40B4-BE49-F238E27FC236}">
                <a16:creationId xmlns:a16="http://schemas.microsoft.com/office/drawing/2014/main" id="{C6CFF4A7-917B-4BB2-873F-AB9BE5D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9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1849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718496"/>
                </a:solidFill>
                <a:latin typeface="Calibri"/>
                <a:ea typeface="Calibri"/>
                <a:cs typeface="Calibri"/>
              </a:rPr>
              <a:t>CSCEF-v2</a:t>
            </a:r>
          </a:p>
        </p:txBody>
      </p:sp>
      <p:sp>
        <p:nvSpPr>
          <p:cNvPr id="7" name="edge-branch-title">
            <a:extLst xmlns:a="http://schemas.openxmlformats.org/drawingml/2006/main">
              <a:ext uri="{FF2B5EF4-FFF2-40B4-BE49-F238E27FC236}">
                <a16:creationId xmlns:a16="http://schemas.microsoft.com/office/drawing/2014/main" id="{FFDB509D-434A-4207-833F-01AFFBB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33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85F7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85F72"/>
                </a:solidFill>
                <a:latin typeface="Calibri"/>
                <a:ea typeface="Calibri"/>
                <a:cs typeface="Calibri"/>
              </a:rPr>
              <a:t>Edge Extraction Branch</a:t>
            </a:r>
          </a:p>
        </p:txBody>
      </p:sp>
      <p:sp>
        <p:nvSpPr>
          <p:cNvPr id="8" name="semantic-branch-title">
            <a:extLst xmlns:a="http://schemas.openxmlformats.org/drawingml/2006/main">
              <a:ext uri="{FF2B5EF4-FFF2-40B4-BE49-F238E27FC236}">
                <a16:creationId xmlns:a16="http://schemas.microsoft.com/office/drawing/2014/main" id="{6FFC71A3-EC2C-4B13-8972-5C96CB1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955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9556"/>
                </a:solidFill>
                <a:latin typeface="Calibri"/>
                <a:ea typeface="Calibri"/>
                <a:cs typeface="Calibri"/>
              </a:rPr>
              <a:t>Semantic Consistency Gate</a:t>
            </a:r>
          </a:p>
        </p:txBody>
      </p:sp>
      <p:sp>
        <p:nvSpPr>
          <p:cNvPr id="72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AAD25789-E44A-4673-B687-88BA748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00775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866AA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866AA0"/>
                </a:solidFill>
                <a:latin typeface="Calibri"/>
                <a:ea typeface="Calibri"/>
                <a:cs typeface="Calibri"/>
              </a:rPr>
              <a:t>Gated Residual Fusion</a:t>
            </a:r>
          </a:p>
        </p:txBody>
      </p:sp>
      <p:sp>
        <p:nvSpPr>
          <p:cNvPr id="240" name="projected-s3-layer-1">
            <a:extLst xmlns:a="http://schemas.openxmlformats.org/drawingml/2006/main">
              <a:ext uri="{FF2B5EF4-FFF2-40B4-BE49-F238E27FC236}">
                <a16:creationId xmlns:a16="http://schemas.microsoft.com/office/drawing/2014/main" id="{EBB324E4-E41E-4CF9-B853-A63F06D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10478">
            <a:solidFill>
              <a:srgbClr val="456F98"/>
            </a:solidFill>
            <a:prstDash val="solid"/>
          </a:ln>
        </p:spPr>
      </p:sp>
      <p:sp>
        <p:nvSpPr>
          <p:cNvPr id="241" name="projected-s3-layer-2">
            <a:extLst xmlns:a="http://schemas.openxmlformats.org/drawingml/2006/main">
              <a:ext uri="{FF2B5EF4-FFF2-40B4-BE49-F238E27FC236}">
                <a16:creationId xmlns:a16="http://schemas.microsoft.com/office/drawing/2014/main" id="{03CE401B-CE81-4F0A-8D0B-C2CC5BA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10478">
            <a:solidFill>
              <a:srgbClr val="456F98"/>
            </a:solidFill>
            <a:prstDash val="solid"/>
          </a:ln>
        </p:spPr>
      </p:sp>
      <p:sp>
        <p:nvSpPr>
          <p:cNvPr id="242" name="projected-s3-layer-3">
            <a:extLst xmlns:a="http://schemas.openxmlformats.org/drawingml/2006/main">
              <a:ext uri="{FF2B5EF4-FFF2-40B4-BE49-F238E27FC236}">
                <a16:creationId xmlns:a16="http://schemas.microsoft.com/office/drawing/2014/main" id="{D6DC94D8-C032-44E3-8031-E4421774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10478">
            <a:solidFill>
              <a:srgbClr val="456F98"/>
            </a:solidFill>
            <a:prstDash val="solid"/>
          </a:ln>
        </p:spPr>
      </p:sp>
      <p:sp>
        <p:nvSpPr>
          <p:cNvPr id="243" name="projected-s3-layer-4">
            <a:extLst xmlns:a="http://schemas.openxmlformats.org/drawingml/2006/main">
              <a:ext uri="{FF2B5EF4-FFF2-40B4-BE49-F238E27FC236}">
                <a16:creationId xmlns:a16="http://schemas.microsoft.com/office/drawing/2014/main" id="{5AEEEE81-E08E-4B90-8693-80CB6A4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7D4"/>
          </a:solidFill>
          <a:ln xmlns:a="http://schemas.openxmlformats.org/drawingml/2006/main" w="17145">
            <a:solidFill>
              <a:srgbClr val="456F98"/>
            </a:solidFill>
            <a:prstDash val="solid"/>
          </a:ln>
        </p:spPr>
      </p:sp>
      <p:sp>
        <p:nvSpPr>
          <p:cNvPr id="244" name="projected-s3-grid-v-1">
            <a:extLst xmlns:a="http://schemas.openxmlformats.org/drawingml/2006/main">
              <a:ext uri="{FF2B5EF4-FFF2-40B4-BE49-F238E27FC236}">
                <a16:creationId xmlns:a16="http://schemas.microsoft.com/office/drawing/2014/main" id="{32123683-1F69-4BF8-A7BC-8264C482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56F98"/>
            </a:solidFill>
            <a:prstDash val="solid"/>
          </a:ln>
        </p:spPr>
      </p:sp>
      <p:sp>
        <p:nvSpPr>
          <p:cNvPr id="245" name="projected-s3-grid-v-2">
            <a:extLst xmlns:a="http://schemas.openxmlformats.org/drawingml/2006/main">
              <a:ext uri="{FF2B5EF4-FFF2-40B4-BE49-F238E27FC236}">
                <a16:creationId xmlns:a16="http://schemas.microsoft.com/office/drawing/2014/main" id="{251CD016-33CC-4BF9-840B-BAD0E41B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56F98"/>
            </a:solidFill>
            <a:prstDash val="solid"/>
          </a:ln>
        </p:spPr>
      </p:sp>
      <p:sp>
        <p:nvSpPr>
          <p:cNvPr id="246" name="projected-s3-grid-h-1">
            <a:extLst xmlns:a="http://schemas.openxmlformats.org/drawingml/2006/main">
              <a:ext uri="{FF2B5EF4-FFF2-40B4-BE49-F238E27FC236}">
                <a16:creationId xmlns:a16="http://schemas.microsoft.com/office/drawing/2014/main" id="{2F9E0C37-3B30-473D-86E5-D2D706F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58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56F98"/>
            </a:solidFill>
            <a:prstDash val="solid"/>
          </a:ln>
        </p:spPr>
      </p:sp>
      <p:sp>
        <p:nvSpPr>
          <p:cNvPr id="247" name="projected-s3-grid-h-2">
            <a:extLst xmlns:a="http://schemas.openxmlformats.org/drawingml/2006/main">
              <a:ext uri="{FF2B5EF4-FFF2-40B4-BE49-F238E27FC236}">
                <a16:creationId xmlns:a16="http://schemas.microsoft.com/office/drawing/2014/main" id="{27497A1D-B5A2-4014-9037-17FCDB4A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33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56F98"/>
            </a:solidFill>
            <a:prstDash val="solid"/>
          </a:ln>
        </p:spPr>
      </p:sp>
      <p:sp>
        <p:nvSpPr>
          <p:cNvPr id="248" name="projected-s3-label">
            <a:extLst xmlns:a="http://schemas.openxmlformats.org/drawingml/2006/main">
              <a:ext uri="{FF2B5EF4-FFF2-40B4-BE49-F238E27FC236}">
                <a16:creationId xmlns:a16="http://schemas.microsoft.com/office/drawing/2014/main" id="{1A347B59-B5A0-46AD-A3DD-22EF00A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14575"/>
            <a:ext cx="857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7620">
            <a:solidFill>
              <a:srgbClr val="456F98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6F9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56F98"/>
                </a:solidFill>
                <a:latin typeface="Calibri"/>
                <a:ea typeface="Calibri"/>
                <a:cs typeface="Calibri"/>
              </a:rPr>
              <a:t>Projected</a:t>
            </a:r>
          </a:p>
          <a:p xmlns:a="http://schemas.openxmlformats.org/drawingml/2006/main">
            <a:pPr algn="ctr">
              <a:defRPr sz="975" b="1">
                <a:solidFill>
                  <a:srgbClr val="456F9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56F98"/>
                </a:solidFill>
                <a:latin typeface="Calibri"/>
                <a:ea typeface="Calibri"/>
                <a:cs typeface="Calibri"/>
              </a:rPr>
              <a:t>S3</a:t>
            </a:r>
          </a:p>
        </p:txBody>
      </p:sp>
      <p:sp>
        <p:nvSpPr>
          <p:cNvPr id="249" name="upsampled-p4-layer-1">
            <a:extLst xmlns:a="http://schemas.openxmlformats.org/drawingml/2006/main">
              <a:ext uri="{FF2B5EF4-FFF2-40B4-BE49-F238E27FC236}">
                <a16:creationId xmlns:a16="http://schemas.microsoft.com/office/drawing/2014/main" id="{1820257B-FEEA-487B-B2A3-741D02E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8"/>
          </a:solidFill>
          <a:ln xmlns:a="http://schemas.openxmlformats.org/drawingml/2006/main" w="10478">
            <a:solidFill>
              <a:srgbClr val="A9692D"/>
            </a:solidFill>
            <a:prstDash val="solid"/>
          </a:ln>
        </p:spPr>
      </p:sp>
      <p:sp>
        <p:nvSpPr>
          <p:cNvPr id="250" name="upsampled-p4-layer-2">
            <a:extLst xmlns:a="http://schemas.openxmlformats.org/drawingml/2006/main">
              <a:ext uri="{FF2B5EF4-FFF2-40B4-BE49-F238E27FC236}">
                <a16:creationId xmlns:a16="http://schemas.microsoft.com/office/drawing/2014/main" id="{7187747F-7DE2-449A-ABA7-D30C19C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8"/>
          </a:solidFill>
          <a:ln xmlns:a="http://schemas.openxmlformats.org/drawingml/2006/main" w="10478">
            <a:solidFill>
              <a:srgbClr val="A9692D"/>
            </a:solidFill>
            <a:prstDash val="solid"/>
          </a:ln>
        </p:spPr>
      </p:sp>
      <p:sp>
        <p:nvSpPr>
          <p:cNvPr id="251" name="upsampled-p4-layer-3">
            <a:extLst xmlns:a="http://schemas.openxmlformats.org/drawingml/2006/main">
              <a:ext uri="{FF2B5EF4-FFF2-40B4-BE49-F238E27FC236}">
                <a16:creationId xmlns:a16="http://schemas.microsoft.com/office/drawing/2014/main" id="{5AAABEEE-2B61-4566-AF25-D0C750D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8"/>
          </a:solidFill>
          <a:ln xmlns:a="http://schemas.openxmlformats.org/drawingml/2006/main" w="10478">
            <a:solidFill>
              <a:srgbClr val="A9692D"/>
            </a:solidFill>
            <a:prstDash val="solid"/>
          </a:ln>
        </p:spPr>
      </p:sp>
      <p:sp>
        <p:nvSpPr>
          <p:cNvPr id="252" name="upsampled-p4-layer-4">
            <a:extLst xmlns:a="http://schemas.openxmlformats.org/drawingml/2006/main">
              <a:ext uri="{FF2B5EF4-FFF2-40B4-BE49-F238E27FC236}">
                <a16:creationId xmlns:a16="http://schemas.microsoft.com/office/drawing/2014/main" id="{36B38861-22E8-4B05-8C5B-307AD99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5D"/>
          </a:solidFill>
          <a:ln xmlns:a="http://schemas.openxmlformats.org/drawingml/2006/main" w="17145">
            <a:solidFill>
              <a:srgbClr val="A9692D"/>
            </a:solidFill>
            <a:prstDash val="solid"/>
          </a:ln>
        </p:spPr>
      </p:sp>
      <p:sp>
        <p:nvSpPr>
          <p:cNvPr id="253" name="upsampled-p4-grid-v-1">
            <a:extLst xmlns:a="http://schemas.openxmlformats.org/drawingml/2006/main">
              <a:ext uri="{FF2B5EF4-FFF2-40B4-BE49-F238E27FC236}">
                <a16:creationId xmlns:a16="http://schemas.microsoft.com/office/drawing/2014/main" id="{B218EA63-58FB-4D23-9865-63643F34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692D"/>
            </a:solidFill>
            <a:prstDash val="solid"/>
          </a:ln>
        </p:spPr>
      </p:sp>
      <p:sp>
        <p:nvSpPr>
          <p:cNvPr id="254" name="upsampled-p4-grid-v-2">
            <a:extLst xmlns:a="http://schemas.openxmlformats.org/drawingml/2006/main">
              <a:ext uri="{FF2B5EF4-FFF2-40B4-BE49-F238E27FC236}">
                <a16:creationId xmlns:a16="http://schemas.microsoft.com/office/drawing/2014/main" id="{92A63EBD-CE18-4123-9785-218C5ABD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692D"/>
            </a:solidFill>
            <a:prstDash val="solid"/>
          </a:ln>
        </p:spPr>
      </p:sp>
      <p:sp>
        <p:nvSpPr>
          <p:cNvPr id="255" name="upsampled-p4-grid-h-1">
            <a:extLst xmlns:a="http://schemas.openxmlformats.org/drawingml/2006/main">
              <a:ext uri="{FF2B5EF4-FFF2-40B4-BE49-F238E27FC236}">
                <a16:creationId xmlns:a16="http://schemas.microsoft.com/office/drawing/2014/main" id="{960ECB2F-97EB-4E78-8EB5-07DBAC36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62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692D"/>
            </a:solidFill>
            <a:prstDash val="solid"/>
          </a:ln>
        </p:spPr>
      </p:sp>
      <p:sp>
        <p:nvSpPr>
          <p:cNvPr id="256" name="upsampled-p4-grid-h-2">
            <a:extLst xmlns:a="http://schemas.openxmlformats.org/drawingml/2006/main">
              <a:ext uri="{FF2B5EF4-FFF2-40B4-BE49-F238E27FC236}">
                <a16:creationId xmlns:a16="http://schemas.microsoft.com/office/drawing/2014/main" id="{B7F8C354-8096-4ADB-831B-EDDD1B02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37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692D"/>
            </a:solidFill>
            <a:prstDash val="solid"/>
          </a:ln>
        </p:spPr>
      </p:sp>
      <p:sp>
        <p:nvSpPr>
          <p:cNvPr id="257" name="upsampled-p4-label">
            <a:extLst xmlns:a="http://schemas.openxmlformats.org/drawingml/2006/main">
              <a:ext uri="{FF2B5EF4-FFF2-40B4-BE49-F238E27FC236}">
                <a16:creationId xmlns:a16="http://schemas.microsoft.com/office/drawing/2014/main" id="{924E3DB8-E7EE-4155-A128-EC9D80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14925"/>
            <a:ext cx="857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7620">
            <a:solidFill>
              <a:srgbClr val="A9692D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92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692D"/>
                </a:solidFill>
                <a:latin typeface="Calibri"/>
                <a:ea typeface="Calibri"/>
                <a:cs typeface="Calibri"/>
              </a:rPr>
              <a:t>Upsampled</a:t>
            </a:r>
          </a:p>
          <a:p xmlns:a="http://schemas.openxmlformats.org/drawingml/2006/main">
            <a:pPr algn="ctr">
              <a:defRPr sz="975" b="1">
                <a:solidFill>
                  <a:srgbClr val="A9692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692D"/>
                </a:solidFill>
                <a:latin typeface="Calibri"/>
                <a:ea typeface="Calibri"/>
                <a:cs typeface="Calibri"/>
              </a:rPr>
              <a:t>P4</a:t>
            </a:r>
          </a:p>
        </p:txBody>
      </p:sp>
      <p:sp>
        <p:nvSpPr>
          <p:cNvPr id="258" name="shared-weights-boundary">
            <a:extLst xmlns:a="http://schemas.openxmlformats.org/drawingml/2006/main">
              <a:ext uri="{FF2B5EF4-FFF2-40B4-BE49-F238E27FC236}">
                <a16:creationId xmlns:a16="http://schemas.microsoft.com/office/drawing/2014/main" id="{DBECA246-3261-48BC-915A-E8FF7FDB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466850"/>
            <a:ext cx="2009775" cy="4705350"/>
          </a:xfrm>
          <a:prstGeom xmlns:a="http://schemas.openxmlformats.org/drawingml/2006/main" prst="roundRect">
            <a:avLst>
              <a:gd name="adj" fmla="val 6635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3335">
            <a:solidFill>
              <a:srgbClr val="718496"/>
            </a:solidFill>
            <a:prstDash val="dash"/>
          </a:ln>
        </p:spPr>
      </p:sp>
      <p:sp>
        <p:nvSpPr>
          <p:cNvPr id="259" name="shared-weights-title">
            <a:extLst xmlns:a="http://schemas.openxmlformats.org/drawingml/2006/main">
              <a:ext uri="{FF2B5EF4-FFF2-40B4-BE49-F238E27FC236}">
                <a16:creationId xmlns:a16="http://schemas.microsoft.com/office/drawing/2014/main" id="{5B1E7251-16A1-449D-8F83-CD100BD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849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18496"/>
                </a:solidFill>
                <a:latin typeface="Calibri"/>
                <a:ea typeface="Calibri"/>
                <a:cs typeface="Calibri"/>
              </a:rPr>
              <a:t>Shared Weights</a:t>
            </a:r>
          </a:p>
        </p:txBody>
      </p:sp>
      <p:sp>
        <p:nvSpPr>
          <p:cNvPr id="260" name="shared-projection-s3">
            <a:extLst xmlns:a="http://schemas.openxmlformats.org/drawingml/2006/main">
              <a:ext uri="{FF2B5EF4-FFF2-40B4-BE49-F238E27FC236}">
                <a16:creationId xmlns:a16="http://schemas.microsoft.com/office/drawing/2014/main" id="{7CD48178-1AD6-4422-8D38-FDFE134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09775"/>
            <a:ext cx="15621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9F2FA"/>
          </a:solidFill>
          <a:ln xmlns:a="http://schemas.openxmlformats.org/drawingml/2006/main" w="14288">
            <a:solidFill>
              <a:srgbClr val="456F9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6F9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56F98"/>
                </a:solidFill>
                <a:latin typeface="Calibri"/>
                <a:ea typeface="Calibri"/>
                <a:cs typeface="Calibri"/>
              </a:rPr>
              <a:t>Shared 1×1 Projection</a:t>
            </a:r>
          </a:p>
        </p:txBody>
      </p:sp>
      <p:sp>
        <p:nvSpPr>
          <p:cNvPr id="261" name="shared-groupnorm-s3">
            <a:extLst xmlns:a="http://schemas.openxmlformats.org/drawingml/2006/main">
              <a:ext uri="{FF2B5EF4-FFF2-40B4-BE49-F238E27FC236}">
                <a16:creationId xmlns:a16="http://schemas.microsoft.com/office/drawing/2014/main" id="{28F59D8C-9A35-47C1-8335-C563886B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24150"/>
            <a:ext cx="15621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4288">
            <a:solidFill>
              <a:srgbClr val="71849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3744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83744"/>
                </a:solidFill>
                <a:latin typeface="Calibri"/>
                <a:ea typeface="Calibri"/>
                <a:cs typeface="Calibri"/>
              </a:rPr>
              <a:t>Shared GroupNorm</a:t>
            </a:r>
          </a:p>
        </p:txBody>
      </p:sp>
      <p:sp>
        <p:nvSpPr>
          <p:cNvPr id="262" name="shared-projection-p4">
            <a:extLst xmlns:a="http://schemas.openxmlformats.org/drawingml/2006/main">
              <a:ext uri="{FF2B5EF4-FFF2-40B4-BE49-F238E27FC236}">
                <a16:creationId xmlns:a16="http://schemas.microsoft.com/office/drawing/2014/main" id="{1FBA54C8-1273-4166-926D-C0C01E1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819650"/>
            <a:ext cx="15621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BEEDC"/>
          </a:solidFill>
          <a:ln xmlns:a="http://schemas.openxmlformats.org/drawingml/2006/main" w="14288">
            <a:solidFill>
              <a:srgbClr val="A9692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92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692D"/>
                </a:solidFill>
                <a:latin typeface="Calibri"/>
                <a:ea typeface="Calibri"/>
                <a:cs typeface="Calibri"/>
              </a:rPr>
              <a:t>Shared 1×1 Projection</a:t>
            </a:r>
          </a:p>
        </p:txBody>
      </p:sp>
      <p:sp>
        <p:nvSpPr>
          <p:cNvPr id="263" name="shared-groupnorm-p4">
            <a:extLst xmlns:a="http://schemas.openxmlformats.org/drawingml/2006/main">
              <a:ext uri="{FF2B5EF4-FFF2-40B4-BE49-F238E27FC236}">
                <a16:creationId xmlns:a16="http://schemas.microsoft.com/office/drawing/2014/main" id="{22B294B2-0227-4BDB-BD15-D9D2A397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534025"/>
            <a:ext cx="15621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4288">
            <a:solidFill>
              <a:srgbClr val="71849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3744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83744"/>
                </a:solidFill>
                <a:latin typeface="Calibri"/>
                <a:ea typeface="Calibri"/>
                <a:cs typeface="Calibri"/>
              </a:rPr>
              <a:t>Shared GroupNorm</a:t>
            </a:r>
          </a:p>
        </p:txBody>
      </p:sp>
      <p:sp>
        <p:nvSpPr>
          <p:cNvPr id="264" name="edge-split">
            <a:extLst xmlns:a="http://schemas.openxmlformats.org/drawingml/2006/main">
              <a:ext uri="{FF2B5EF4-FFF2-40B4-BE49-F238E27FC236}">
                <a16:creationId xmlns:a16="http://schemas.microsoft.com/office/drawing/2014/main" id="{165F4F04-8D68-4C30-9D83-428B694D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F72"/>
          </a:solidFill>
          <a:ln xmlns:a="http://schemas.openxmlformats.org/drawingml/2006/main" w="0">
            <a:solidFill>
              <a:srgbClr val="B85F72"/>
            </a:solidFill>
            <a:prstDash val="solid"/>
          </a:ln>
        </p:spPr>
      </p:sp>
      <p:sp>
        <p:nvSpPr>
          <p:cNvPr id="265" name="fixed-scharr-x">
            <a:extLst xmlns:a="http://schemas.openxmlformats.org/drawingml/2006/main">
              <a:ext uri="{FF2B5EF4-FFF2-40B4-BE49-F238E27FC236}">
                <a16:creationId xmlns:a16="http://schemas.microsoft.com/office/drawing/2014/main" id="{CCB5AF2E-D38D-4DC9-BF72-8107A045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12192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BE8ED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6" name="fixed-scharr-x-cell-0-0">
            <a:extLst xmlns:a="http://schemas.openxmlformats.org/drawingml/2006/main">
              <a:ext uri="{FF2B5EF4-FFF2-40B4-BE49-F238E27FC236}">
                <a16:creationId xmlns:a16="http://schemas.microsoft.com/office/drawing/2014/main" id="{93E45640-0BDD-40F8-AD4A-4F91F73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267" name="fixed-scharr-x-cell-0-1">
            <a:extLst xmlns:a="http://schemas.openxmlformats.org/drawingml/2006/main">
              <a:ext uri="{FF2B5EF4-FFF2-40B4-BE49-F238E27FC236}">
                <a16:creationId xmlns:a16="http://schemas.microsoft.com/office/drawing/2014/main" id="{2560C549-4B90-467C-8840-BA9876FA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57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8" name="fixed-scharr-x-cell-0-2">
            <a:extLst xmlns:a="http://schemas.openxmlformats.org/drawingml/2006/main">
              <a:ext uri="{FF2B5EF4-FFF2-40B4-BE49-F238E27FC236}">
                <a16:creationId xmlns:a16="http://schemas.microsoft.com/office/drawing/2014/main" id="{2816DA0D-80BB-4637-BDD9-D01325CB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9" name="fixed-scharr-x-cell-1-0">
            <a:extLst xmlns:a="http://schemas.openxmlformats.org/drawingml/2006/main">
              <a:ext uri="{FF2B5EF4-FFF2-40B4-BE49-F238E27FC236}">
                <a16:creationId xmlns:a16="http://schemas.microsoft.com/office/drawing/2014/main" id="{97D7DE92-205B-4AC2-8EF7-29772BD7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-10</a:t>
            </a:r>
          </a:p>
        </p:txBody>
      </p:sp>
      <p:sp>
        <p:nvSpPr>
          <p:cNvPr id="270" name="fixed-scharr-x-cell-1-1">
            <a:extLst xmlns:a="http://schemas.openxmlformats.org/drawingml/2006/main">
              <a:ext uri="{FF2B5EF4-FFF2-40B4-BE49-F238E27FC236}">
                <a16:creationId xmlns:a16="http://schemas.microsoft.com/office/drawing/2014/main" id="{DF72B596-5400-4269-B919-586D4B9B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1" name="fixed-scharr-x-cell-1-2">
            <a:extLst xmlns:a="http://schemas.openxmlformats.org/drawingml/2006/main">
              <a:ext uri="{FF2B5EF4-FFF2-40B4-BE49-F238E27FC236}">
                <a16:creationId xmlns:a16="http://schemas.microsoft.com/office/drawing/2014/main" id="{F637028E-80FC-4600-BE7F-801DE3E6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71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2" name="fixed-scharr-x-cell-2-0">
            <a:extLst xmlns:a="http://schemas.openxmlformats.org/drawingml/2006/main">
              <a:ext uri="{FF2B5EF4-FFF2-40B4-BE49-F238E27FC236}">
                <a16:creationId xmlns:a16="http://schemas.microsoft.com/office/drawing/2014/main" id="{68A90682-4DA3-4AE6-84D6-AEF4FF68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85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273" name="fixed-scharr-x-cell-2-1">
            <a:extLst xmlns:a="http://schemas.openxmlformats.org/drawingml/2006/main">
              <a:ext uri="{FF2B5EF4-FFF2-40B4-BE49-F238E27FC236}">
                <a16:creationId xmlns:a16="http://schemas.microsoft.com/office/drawing/2014/main" id="{04453D31-26B9-4A07-839A-C866ADFF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85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4" name="fixed-scharr-x-cell-2-2">
            <a:extLst xmlns:a="http://schemas.openxmlformats.org/drawingml/2006/main">
              <a:ext uri="{FF2B5EF4-FFF2-40B4-BE49-F238E27FC236}">
                <a16:creationId xmlns:a16="http://schemas.microsoft.com/office/drawing/2014/main" id="{22CC82FD-DAE3-4485-A8BE-BC5A9924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85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5" name="fixed-scharr-x-label">
            <a:extLst xmlns:a="http://schemas.openxmlformats.org/drawingml/2006/main">
              <a:ext uri="{FF2B5EF4-FFF2-40B4-BE49-F238E27FC236}">
                <a16:creationId xmlns:a16="http://schemas.microsoft.com/office/drawing/2014/main" id="{F8916542-E16C-4B1C-87B6-DC206B3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02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Fixed</a:t>
            </a:r>
          </a:p>
          <a:p xmlns:a="http://schemas.openxmlformats.org/drawingml/2006/main">
            <a:pPr algn="ctr">
              <a:defRPr sz="900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Scharr-X</a:t>
            </a:r>
          </a:p>
        </p:txBody>
      </p:sp>
      <p:sp>
        <p:nvSpPr>
          <p:cNvPr id="276" name="fixed-scharr-y">
            <a:extLst xmlns:a="http://schemas.openxmlformats.org/drawingml/2006/main">
              <a:ext uri="{FF2B5EF4-FFF2-40B4-BE49-F238E27FC236}">
                <a16:creationId xmlns:a16="http://schemas.microsoft.com/office/drawing/2014/main" id="{0C90F9EB-FAA0-4F5F-9683-84C194B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2192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BE8ED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7" name="fixed-scharr-y-cell-0-0">
            <a:extLst xmlns:a="http://schemas.openxmlformats.org/drawingml/2006/main">
              <a:ext uri="{FF2B5EF4-FFF2-40B4-BE49-F238E27FC236}">
                <a16:creationId xmlns:a16="http://schemas.microsoft.com/office/drawing/2014/main" id="{2F6DEBC8-4FB1-45EC-BBEC-09BB708E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278" name="fixed-scharr-y-cell-0-1">
            <a:extLst xmlns:a="http://schemas.openxmlformats.org/drawingml/2006/main">
              <a:ext uri="{FF2B5EF4-FFF2-40B4-BE49-F238E27FC236}">
                <a16:creationId xmlns:a16="http://schemas.microsoft.com/office/drawing/2014/main" id="{0B590835-FF45-4088-B976-CFDEC9A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-10</a:t>
            </a:r>
          </a:p>
        </p:txBody>
      </p:sp>
      <p:sp>
        <p:nvSpPr>
          <p:cNvPr id="279" name="fixed-scharr-y-cell-0-2">
            <a:extLst xmlns:a="http://schemas.openxmlformats.org/drawingml/2006/main">
              <a:ext uri="{FF2B5EF4-FFF2-40B4-BE49-F238E27FC236}">
                <a16:creationId xmlns:a16="http://schemas.microsoft.com/office/drawing/2014/main" id="{C0540950-33B9-46B5-A532-872EBB61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280" name="fixed-scharr-y-cell-1-0">
            <a:extLst xmlns:a="http://schemas.openxmlformats.org/drawingml/2006/main">
              <a:ext uri="{FF2B5EF4-FFF2-40B4-BE49-F238E27FC236}">
                <a16:creationId xmlns:a16="http://schemas.microsoft.com/office/drawing/2014/main" id="{1C7AA190-C3B2-48A2-B89B-D94EC38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1" name="fixed-scharr-y-cell-1-1">
            <a:extLst xmlns:a="http://schemas.openxmlformats.org/drawingml/2006/main">
              <a:ext uri="{FF2B5EF4-FFF2-40B4-BE49-F238E27FC236}">
                <a16:creationId xmlns:a16="http://schemas.microsoft.com/office/drawing/2014/main" id="{502B4DF0-6E54-4B7E-ACDE-86D1BFF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2" name="fixed-scharr-y-cell-1-2">
            <a:extLst xmlns:a="http://schemas.openxmlformats.org/drawingml/2006/main">
              <a:ext uri="{FF2B5EF4-FFF2-40B4-BE49-F238E27FC236}">
                <a16:creationId xmlns:a16="http://schemas.microsoft.com/office/drawing/2014/main" id="{E32C77FD-E007-4221-8CDD-6012CEE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A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fixed-scharr-y-cell-2-0">
            <a:extLst xmlns:a="http://schemas.openxmlformats.org/drawingml/2006/main">
              <a:ext uri="{FF2B5EF4-FFF2-40B4-BE49-F238E27FC236}">
                <a16:creationId xmlns:a16="http://schemas.microsoft.com/office/drawing/2014/main" id="{3F448505-537C-4F8C-BB53-B4155A2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4" name="fixed-scharr-y-cell-2-1">
            <a:extLst xmlns:a="http://schemas.openxmlformats.org/drawingml/2006/main">
              <a:ext uri="{FF2B5EF4-FFF2-40B4-BE49-F238E27FC236}">
                <a16:creationId xmlns:a16="http://schemas.microsoft.com/office/drawing/2014/main" id="{9D2BB93D-AE60-423E-B12C-8B076BC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5" name="fixed-scharr-y-cell-2-2">
            <a:extLst xmlns:a="http://schemas.openxmlformats.org/drawingml/2006/main">
              <a:ext uri="{FF2B5EF4-FFF2-40B4-BE49-F238E27FC236}">
                <a16:creationId xmlns:a16="http://schemas.microsoft.com/office/drawing/2014/main" id="{552EC592-086A-45B5-AC56-F0134B57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D6"/>
          </a:solidFill>
          <a:ln xmlns:a="http://schemas.openxmlformats.org/drawingml/2006/main" w="5715">
            <a:solidFill>
              <a:srgbClr val="C8839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0">
                <a:solidFill>
                  <a:srgbClr val="A54D61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A54D6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6" name="fixed-scharr-y-label">
            <a:extLst xmlns:a="http://schemas.openxmlformats.org/drawingml/2006/main">
              <a:ext uri="{FF2B5EF4-FFF2-40B4-BE49-F238E27FC236}">
                <a16:creationId xmlns:a16="http://schemas.microsoft.com/office/drawing/2014/main" id="{372BED56-8BC8-46D3-86D7-F3B06F4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051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Fixed</a:t>
            </a:r>
          </a:p>
          <a:p xmlns:a="http://schemas.openxmlformats.org/drawingml/2006/main">
            <a:pPr algn="ctr">
              <a:defRPr sz="900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Scharr-Y</a:t>
            </a:r>
          </a:p>
        </p:txBody>
      </p:sp>
      <p:sp>
        <p:nvSpPr>
          <p:cNvPr id="287" name="edge-merge">
            <a:extLst xmlns:a="http://schemas.openxmlformats.org/drawingml/2006/main">
              <a:ext uri="{FF2B5EF4-FFF2-40B4-BE49-F238E27FC236}">
                <a16:creationId xmlns:a16="http://schemas.microsoft.com/office/drawing/2014/main" id="{0AD687FC-9E3E-44B6-975B-9ECC196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F72"/>
          </a:solidFill>
          <a:ln xmlns:a="http://schemas.openxmlformats.org/drawingml/2006/main" w="0">
            <a:solidFill>
              <a:srgbClr val="B85F72"/>
            </a:solidFill>
            <a:prstDash val="solid"/>
          </a:ln>
        </p:spPr>
      </p:sp>
      <p:sp>
        <p:nvSpPr>
          <p:cNvPr id="288" name="fp32-edge-magnitude">
            <a:extLst xmlns:a="http://schemas.openxmlformats.org/drawingml/2006/main">
              <a:ext uri="{FF2B5EF4-FFF2-40B4-BE49-F238E27FC236}">
                <a16:creationId xmlns:a16="http://schemas.microsoft.com/office/drawing/2014/main" id="{FE2B5E48-E538-4CBD-9A00-B9DA4CC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DFE5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FP32 Edge</a:t>
            </a:r>
          </a:p>
          <a:p xmlns:a="http://schemas.openxmlformats.org/drawingml/2006/main">
            <a:pPr algn="ctr">
              <a:defRPr sz="975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Magnitude</a:t>
            </a:r>
          </a:p>
        </p:txBody>
      </p:sp>
      <p:sp>
        <p:nvSpPr>
          <p:cNvPr id="289" name="depthwise-conv">
            <a:extLst xmlns:a="http://schemas.openxmlformats.org/drawingml/2006/main">
              <a:ext uri="{FF2B5EF4-FFF2-40B4-BE49-F238E27FC236}">
                <a16:creationId xmlns:a16="http://schemas.microsoft.com/office/drawing/2014/main" id="{75E05C44-4883-4CCE-ABB7-924524D4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1239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E8ED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Depthwise 3×3</a:t>
            </a:r>
          </a:p>
          <a:p xmlns:a="http://schemas.openxmlformats.org/drawingml/2006/main">
            <a:pPr algn="ctr">
              <a:defRPr sz="975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Conv</a:t>
            </a:r>
          </a:p>
        </p:txBody>
      </p:sp>
      <p:sp>
        <p:nvSpPr>
          <p:cNvPr id="290" name="edge-groupnorm">
            <a:extLst xmlns:a="http://schemas.openxmlformats.org/drawingml/2006/main">
              <a:ext uri="{FF2B5EF4-FFF2-40B4-BE49-F238E27FC236}">
                <a16:creationId xmlns:a16="http://schemas.microsoft.com/office/drawing/2014/main" id="{8C1FBB61-0878-4745-A131-7335A002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76475"/>
            <a:ext cx="876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GroupNorm</a:t>
            </a:r>
          </a:p>
        </p:txBody>
      </p:sp>
      <p:sp>
        <p:nvSpPr>
          <p:cNvPr id="291" name="edge-silu">
            <a:extLst xmlns:a="http://schemas.openxmlformats.org/drawingml/2006/main">
              <a:ext uri="{FF2B5EF4-FFF2-40B4-BE49-F238E27FC236}">
                <a16:creationId xmlns:a16="http://schemas.microsoft.com/office/drawing/2014/main" id="{EC1B6DD8-CA07-4C67-A328-30AEA428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276475"/>
            <a:ext cx="7048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14288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SiLU</a:t>
            </a:r>
          </a:p>
        </p:txBody>
      </p:sp>
      <p:sp>
        <p:nvSpPr>
          <p:cNvPr id="292" name="calibrated-edge-layer-1">
            <a:extLst xmlns:a="http://schemas.openxmlformats.org/drawingml/2006/main">
              <a:ext uri="{FF2B5EF4-FFF2-40B4-BE49-F238E27FC236}">
                <a16:creationId xmlns:a16="http://schemas.microsoft.com/office/drawing/2014/main" id="{FB4F362D-3D45-4ED5-B3BC-B5787CB7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962150"/>
            <a:ext cx="914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E3"/>
          </a:solidFill>
          <a:ln xmlns:a="http://schemas.openxmlformats.org/drawingml/2006/main" w="10478">
            <a:solidFill>
              <a:srgbClr val="B85F72"/>
            </a:solidFill>
            <a:prstDash val="solid"/>
          </a:ln>
        </p:spPr>
      </p:sp>
      <p:sp>
        <p:nvSpPr>
          <p:cNvPr id="293" name="calibrated-edge-layer-2">
            <a:extLst xmlns:a="http://schemas.openxmlformats.org/drawingml/2006/main">
              <a:ext uri="{FF2B5EF4-FFF2-40B4-BE49-F238E27FC236}">
                <a16:creationId xmlns:a16="http://schemas.microsoft.com/office/drawing/2014/main" id="{D8289D5E-C9AE-4230-AD9D-1CEA2ED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019300"/>
            <a:ext cx="914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E3"/>
          </a:solidFill>
          <a:ln xmlns:a="http://schemas.openxmlformats.org/drawingml/2006/main" w="10478">
            <a:solidFill>
              <a:srgbClr val="B85F72"/>
            </a:solidFill>
            <a:prstDash val="solid"/>
          </a:ln>
        </p:spPr>
      </p:sp>
      <p:sp>
        <p:nvSpPr>
          <p:cNvPr id="294" name="calibrated-edge-layer-3">
            <a:extLst xmlns:a="http://schemas.openxmlformats.org/drawingml/2006/main">
              <a:ext uri="{FF2B5EF4-FFF2-40B4-BE49-F238E27FC236}">
                <a16:creationId xmlns:a16="http://schemas.microsoft.com/office/drawing/2014/main" id="{25FCDA47-A49C-4A2E-9561-AB63A5C8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76450"/>
            <a:ext cx="914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B9"/>
          </a:solidFill>
          <a:ln xmlns:a="http://schemas.openxmlformats.org/drawingml/2006/main" w="17145">
            <a:solidFill>
              <a:srgbClr val="B85F72"/>
            </a:solidFill>
            <a:prstDash val="solid"/>
          </a:ln>
        </p:spPr>
      </p:sp>
      <p:sp>
        <p:nvSpPr>
          <p:cNvPr id="295" name="calibrated-edge-grid-v-1">
            <a:extLst xmlns:a="http://schemas.openxmlformats.org/drawingml/2006/main">
              <a:ext uri="{FF2B5EF4-FFF2-40B4-BE49-F238E27FC236}">
                <a16:creationId xmlns:a16="http://schemas.microsoft.com/office/drawing/2014/main" id="{58E17D7A-B4B8-4C5E-9FB7-1A8AB5DE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076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5F72"/>
            </a:solidFill>
            <a:prstDash val="solid"/>
          </a:ln>
        </p:spPr>
      </p:sp>
      <p:sp>
        <p:nvSpPr>
          <p:cNvPr id="296" name="calibrated-edge-grid-v-2">
            <a:extLst xmlns:a="http://schemas.openxmlformats.org/drawingml/2006/main">
              <a:ext uri="{FF2B5EF4-FFF2-40B4-BE49-F238E27FC236}">
                <a16:creationId xmlns:a16="http://schemas.microsoft.com/office/drawing/2014/main" id="{121467ED-9D64-446B-BC0A-E9DA98C1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076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5F72"/>
            </a:solidFill>
            <a:prstDash val="solid"/>
          </a:ln>
        </p:spPr>
      </p:sp>
      <p:sp>
        <p:nvSpPr>
          <p:cNvPr id="297" name="calibrated-edge-grid-h-1">
            <a:extLst xmlns:a="http://schemas.openxmlformats.org/drawingml/2006/main">
              <a:ext uri="{FF2B5EF4-FFF2-40B4-BE49-F238E27FC236}">
                <a16:creationId xmlns:a16="http://schemas.microsoft.com/office/drawing/2014/main" id="{07D9ED62-0A29-4E18-99D6-CBBF8CC0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749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5F72"/>
            </a:solidFill>
            <a:prstDash val="solid"/>
          </a:ln>
        </p:spPr>
      </p:sp>
      <p:sp>
        <p:nvSpPr>
          <p:cNvPr id="298" name="calibrated-edge-grid-h-2">
            <a:extLst xmlns:a="http://schemas.openxmlformats.org/drawingml/2006/main">
              <a:ext uri="{FF2B5EF4-FFF2-40B4-BE49-F238E27FC236}">
                <a16:creationId xmlns:a16="http://schemas.microsoft.com/office/drawing/2014/main" id="{9E25C539-CF80-46FD-A696-507B731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733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5F72"/>
            </a:solidFill>
            <a:prstDash val="solid"/>
          </a:ln>
        </p:spPr>
      </p:sp>
      <p:sp>
        <p:nvSpPr>
          <p:cNvPr id="299" name="calibrated-edge-label">
            <a:extLst xmlns:a="http://schemas.openxmlformats.org/drawingml/2006/main">
              <a:ext uri="{FF2B5EF4-FFF2-40B4-BE49-F238E27FC236}">
                <a16:creationId xmlns:a16="http://schemas.microsoft.com/office/drawing/2014/main" id="{853D1205-8E36-4CB3-B983-AB7288A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336102"/>
            <a:ext cx="742950" cy="376047"/>
          </a:xfrm>
          <a:prstGeom xmlns:a="http://schemas.openxmlformats.org/drawingml/2006/main" prst="roundRect">
            <a:avLst>
              <a:gd name="adj" fmla="val 15198"/>
            </a:avLst>
          </a:prstGeom>
          <a:solidFill xmlns:a="http://schemas.openxmlformats.org/drawingml/2006/main">
            <a:srgbClr val="FFF8FA"/>
          </a:solidFill>
          <a:ln xmlns:a="http://schemas.openxmlformats.org/drawingml/2006/main" w="7620">
            <a:solidFill>
              <a:srgbClr val="B85F72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Calibrated</a:t>
            </a:r>
          </a:p>
          <a:p xmlns:a="http://schemas.openxmlformats.org/drawingml/2006/main">
            <a:pPr algn="ctr">
              <a:defRPr sz="713" b="1">
                <a:solidFill>
                  <a:srgbClr val="A54D61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A54D61"/>
                </a:solidFill>
                <a:latin typeface="Calibri"/>
                <a:ea typeface="Calibri"/>
                <a:cs typeface="Calibri"/>
              </a:rPr>
              <a:t>Edge Feature</a:t>
            </a:r>
          </a:p>
        </p:txBody>
      </p:sp>
      <p:sp>
        <p:nvSpPr>
          <p:cNvPr id="300" name="fp32-cosine-similarity">
            <a:extLst xmlns:a="http://schemas.openxmlformats.org/drawingml/2006/main">
              <a:ext uri="{FF2B5EF4-FFF2-40B4-BE49-F238E27FC236}">
                <a16:creationId xmlns:a16="http://schemas.microsoft.com/office/drawing/2014/main" id="{0EEAB9A6-A662-416B-9035-E5AF96F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1238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4E4"/>
          </a:solidFill>
          <a:ln xmlns:a="http://schemas.openxmlformats.org/drawingml/2006/main" w="14288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FP32 Cosine</a:t>
            </a:r>
          </a:p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Similarity</a:t>
            </a:r>
          </a:p>
        </p:txBody>
      </p:sp>
      <p:sp>
        <p:nvSpPr>
          <p:cNvPr id="301" name="spatial-standardization">
            <a:extLst xmlns:a="http://schemas.openxmlformats.org/drawingml/2006/main">
              <a:ext uri="{FF2B5EF4-FFF2-40B4-BE49-F238E27FC236}">
                <a16:creationId xmlns:a16="http://schemas.microsoft.com/office/drawing/2014/main" id="{33A94DE4-8BAB-4970-9687-70F74AB3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13144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CF7E9"/>
          </a:solidFill>
          <a:ln xmlns:a="http://schemas.openxmlformats.org/drawingml/2006/main" w="14288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Per-sample Spatial</a:t>
            </a:r>
          </a:p>
          <a:p xmlns:a="http://schemas.openxmlformats.org/drawingml/2006/main">
            <a:pPr algn="ctr">
              <a:defRPr sz="938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Standardization</a:t>
            </a:r>
          </a:p>
        </p:txBody>
      </p:sp>
      <p:sp>
        <p:nvSpPr>
          <p:cNvPr id="302" name="similarity-clamp">
            <a:extLst xmlns:a="http://schemas.openxmlformats.org/drawingml/2006/main">
              <a:ext uri="{FF2B5EF4-FFF2-40B4-BE49-F238E27FC236}">
                <a16:creationId xmlns:a16="http://schemas.microsoft.com/office/drawing/2014/main" id="{E7F2CDBD-853E-4F1C-AC09-FA42E409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8763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4FAF2"/>
          </a:solidFill>
          <a:ln xmlns:a="http://schemas.openxmlformats.org/drawingml/2006/main" w="14288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Clamp</a:t>
            </a:r>
          </a:p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[-3, 3]</a:t>
            </a:r>
          </a:p>
        </p:txBody>
      </p:sp>
      <p:sp>
        <p:nvSpPr>
          <p:cNvPr id="303" name="bounded-temperature">
            <a:extLst xmlns:a="http://schemas.openxmlformats.org/drawingml/2006/main">
              <a:ext uri="{FF2B5EF4-FFF2-40B4-BE49-F238E27FC236}">
                <a16:creationId xmlns:a16="http://schemas.microsoft.com/office/drawing/2014/main" id="{18378766-A81A-4AA5-80E8-47F345E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91050"/>
            <a:ext cx="1333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4F3E1"/>
          </a:solidFill>
          <a:ln xmlns:a="http://schemas.openxmlformats.org/drawingml/2006/main" w="14288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Bounded Temperature</a:t>
            </a:r>
          </a:p>
          <a:p xmlns:a="http://schemas.openxmlformats.org/drawingml/2006/main">
            <a:pPr algn="ctr">
              <a:defRPr sz="938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τ ∈ [0.5, 4.0]</a:t>
            </a:r>
          </a:p>
        </p:txBody>
      </p:sp>
      <p:sp>
        <p:nvSpPr>
          <p:cNvPr id="304" name="sigmoid-gate">
            <a:extLst xmlns:a="http://schemas.openxmlformats.org/drawingml/2006/main">
              <a:ext uri="{FF2B5EF4-FFF2-40B4-BE49-F238E27FC236}">
                <a16:creationId xmlns:a16="http://schemas.microsoft.com/office/drawing/2014/main" id="{E6FC4B1B-ADF6-4D4E-A316-54BF5A8F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48200"/>
            <a:ext cx="9334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DF8EA"/>
          </a:solidFill>
          <a:ln xmlns:a="http://schemas.openxmlformats.org/drawingml/2006/main" w="14288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Sigmoid</a:t>
            </a:r>
          </a:p>
          <a:p xmlns:a="http://schemas.openxmlformats.org/drawingml/2006/main">
            <a:pPr algn="ctr">
              <a:defRPr sz="97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305" name="gate-map-layer-1">
            <a:extLst xmlns:a="http://schemas.openxmlformats.org/drawingml/2006/main">
              <a:ext uri="{FF2B5EF4-FFF2-40B4-BE49-F238E27FC236}">
                <a16:creationId xmlns:a16="http://schemas.microsoft.com/office/drawing/2014/main" id="{800B7A7E-2B02-4FA7-BFE9-128BE8F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476750"/>
            <a:ext cx="78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B"/>
          </a:solidFill>
          <a:ln xmlns:a="http://schemas.openxmlformats.org/drawingml/2006/main" w="10478">
            <a:solidFill>
              <a:srgbClr val="5D9556"/>
            </a:solidFill>
            <a:prstDash val="solid"/>
          </a:ln>
        </p:spPr>
      </p:sp>
      <p:sp>
        <p:nvSpPr>
          <p:cNvPr id="306" name="gate-map-layer-2">
            <a:extLst xmlns:a="http://schemas.openxmlformats.org/drawingml/2006/main">
              <a:ext uri="{FF2B5EF4-FFF2-40B4-BE49-F238E27FC236}">
                <a16:creationId xmlns:a16="http://schemas.microsoft.com/office/drawing/2014/main" id="{B5E323D2-0FAF-4925-9B0C-14C22745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33900"/>
            <a:ext cx="78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B"/>
          </a:solidFill>
          <a:ln xmlns:a="http://schemas.openxmlformats.org/drawingml/2006/main" w="10478">
            <a:solidFill>
              <a:srgbClr val="5D9556"/>
            </a:solidFill>
            <a:prstDash val="solid"/>
          </a:ln>
        </p:spPr>
      </p:sp>
      <p:sp>
        <p:nvSpPr>
          <p:cNvPr id="307" name="gate-map-layer-3">
            <a:extLst xmlns:a="http://schemas.openxmlformats.org/drawingml/2006/main">
              <a:ext uri="{FF2B5EF4-FFF2-40B4-BE49-F238E27FC236}">
                <a16:creationId xmlns:a16="http://schemas.microsoft.com/office/drawing/2014/main" id="{D8254E47-E02F-4EAE-9547-E7FC023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591050"/>
            <a:ext cx="78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895"/>
          </a:solidFill>
          <a:ln xmlns:a="http://schemas.openxmlformats.org/drawingml/2006/main" w="17145">
            <a:solidFill>
              <a:srgbClr val="5D9556"/>
            </a:solidFill>
            <a:prstDash val="solid"/>
          </a:ln>
        </p:spPr>
      </p:sp>
      <p:sp>
        <p:nvSpPr>
          <p:cNvPr id="308" name="gate-map-grid-v-1">
            <a:extLst xmlns:a="http://schemas.openxmlformats.org/drawingml/2006/main">
              <a:ext uri="{FF2B5EF4-FFF2-40B4-BE49-F238E27FC236}">
                <a16:creationId xmlns:a16="http://schemas.microsoft.com/office/drawing/2014/main" id="{03DB77A1-8464-4E0A-A783-57743AF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5910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9556"/>
            </a:solidFill>
            <a:prstDash val="solid"/>
          </a:ln>
        </p:spPr>
      </p:sp>
      <p:sp>
        <p:nvSpPr>
          <p:cNvPr id="309" name="gate-map-grid-v-2">
            <a:extLst xmlns:a="http://schemas.openxmlformats.org/drawingml/2006/main">
              <a:ext uri="{FF2B5EF4-FFF2-40B4-BE49-F238E27FC236}">
                <a16:creationId xmlns:a16="http://schemas.microsoft.com/office/drawing/2014/main" id="{0FD9E7BE-5BC7-4E75-ABE5-448409B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45910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9556"/>
            </a:solidFill>
            <a:prstDash val="solid"/>
          </a:ln>
        </p:spPr>
      </p:sp>
      <p:sp>
        <p:nvSpPr>
          <p:cNvPr id="310" name="gate-map-grid-h-1">
            <a:extLst xmlns:a="http://schemas.openxmlformats.org/drawingml/2006/main">
              <a:ext uri="{FF2B5EF4-FFF2-40B4-BE49-F238E27FC236}">
                <a16:creationId xmlns:a16="http://schemas.microsoft.com/office/drawing/2014/main" id="{7F20B96E-A8D6-40D6-B957-21F337A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77202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9556"/>
            </a:solidFill>
            <a:prstDash val="solid"/>
          </a:ln>
        </p:spPr>
      </p:sp>
      <p:sp>
        <p:nvSpPr>
          <p:cNvPr id="311" name="gate-map-grid-h-2">
            <a:extLst xmlns:a="http://schemas.openxmlformats.org/drawingml/2006/main">
              <a:ext uri="{FF2B5EF4-FFF2-40B4-BE49-F238E27FC236}">
                <a16:creationId xmlns:a16="http://schemas.microsoft.com/office/drawing/2014/main" id="{D1D55060-54EA-4E28-87D4-4931A52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953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9556"/>
            </a:solidFill>
            <a:prstDash val="solid"/>
          </a:ln>
        </p:spPr>
      </p:sp>
      <p:sp>
        <p:nvSpPr>
          <p:cNvPr id="312" name="gate-map-grid-h-3">
            <a:extLst xmlns:a="http://schemas.openxmlformats.org/drawingml/2006/main">
              <a:ext uri="{FF2B5EF4-FFF2-40B4-BE49-F238E27FC236}">
                <a16:creationId xmlns:a16="http://schemas.microsoft.com/office/drawing/2014/main" id="{FD985D34-6FDD-4B58-A756-0FD6C7E4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1339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9556"/>
            </a:solidFill>
            <a:prstDash val="solid"/>
          </a:ln>
        </p:spPr>
      </p:sp>
      <p:sp>
        <p:nvSpPr>
          <p:cNvPr id="313" name="gate-map-label">
            <a:extLst xmlns:a="http://schemas.openxmlformats.org/drawingml/2006/main">
              <a:ext uri="{FF2B5EF4-FFF2-40B4-BE49-F238E27FC236}">
                <a16:creationId xmlns:a16="http://schemas.microsoft.com/office/drawing/2014/main" id="{23034349-942B-4E48-B504-AA9E0FD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800981"/>
            <a:ext cx="609600" cy="304038"/>
          </a:xfrm>
          <a:prstGeom xmlns:a="http://schemas.openxmlformats.org/drawingml/2006/main" prst="roundRect">
            <a:avLst>
              <a:gd name="adj" fmla="val 18797"/>
            </a:avLst>
          </a:prstGeom>
          <a:solidFill xmlns:a="http://schemas.openxmlformats.org/drawingml/2006/main">
            <a:srgbClr val="F7FCF6"/>
          </a:solidFill>
          <a:ln xmlns:a="http://schemas.openxmlformats.org/drawingml/2006/main" w="7620">
            <a:solidFill>
              <a:srgbClr val="5D9556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Gate</a:t>
            </a:r>
          </a:p>
          <a:p xmlns:a="http://schemas.openxmlformats.org/drawingml/2006/main">
            <a:pPr algn="ctr">
              <a:defRPr sz="825" b="1">
                <a:solidFill>
                  <a:srgbClr val="4F855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4F8550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314" name="gated-multiply">
            <a:extLst xmlns:a="http://schemas.openxmlformats.org/drawingml/2006/main">
              <a:ext uri="{FF2B5EF4-FFF2-40B4-BE49-F238E27FC236}">
                <a16:creationId xmlns:a16="http://schemas.microsoft.com/office/drawing/2014/main" id="{216BF5A2-98AC-4D11-A254-419797B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581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8F6"/>
          </a:solidFill>
          <a:ln xmlns:a="http://schemas.openxmlformats.org/drawingml/2006/main" w="19050">
            <a:solidFill>
              <a:srgbClr val="725588"/>
            </a:solidFill>
            <a:prstDash val="solid"/>
          </a:ln>
        </p:spPr>
        <p:txBody>
          <a:bodyPr xmlns:a="http://schemas.openxmlformats.org/drawingml/2006/main" wrap="square" lIns="0" tIns="0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558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725588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315" name="output-projection">
            <a:extLst xmlns:a="http://schemas.openxmlformats.org/drawingml/2006/main">
              <a:ext uri="{FF2B5EF4-FFF2-40B4-BE49-F238E27FC236}">
                <a16:creationId xmlns:a16="http://schemas.microsoft.com/office/drawing/2014/main" id="{6FD37626-4122-432A-87EF-56BE8A6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477000"/>
            <a:ext cx="12573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FE7F5"/>
          </a:solidFill>
          <a:ln xmlns:a="http://schemas.openxmlformats.org/drawingml/2006/main" w="14288">
            <a:solidFill>
              <a:srgbClr val="866AA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558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25588"/>
                </a:solidFill>
                <a:latin typeface="Calibri"/>
                <a:ea typeface="Calibri"/>
                <a:cs typeface="Calibri"/>
              </a:rPr>
              <a:t>1×1 Output</a:t>
            </a:r>
          </a:p>
          <a:p xmlns:a="http://schemas.openxmlformats.org/drawingml/2006/main">
            <a:pPr algn="ctr">
              <a:defRPr sz="975" b="1">
                <a:solidFill>
                  <a:srgbClr val="72558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25588"/>
                </a:solidFill>
                <a:latin typeface="Calibri"/>
                <a:ea typeface="Calibri"/>
                <a:cs typeface="Calibri"/>
              </a:rPr>
              <a:t>Projection</a:t>
            </a:r>
          </a:p>
        </p:txBody>
      </p:sp>
      <p:sp>
        <p:nvSpPr>
          <p:cNvPr id="316" name="per-channel-layerscale">
            <a:extLst xmlns:a="http://schemas.openxmlformats.org/drawingml/2006/main">
              <a:ext uri="{FF2B5EF4-FFF2-40B4-BE49-F238E27FC236}">
                <a16:creationId xmlns:a16="http://schemas.microsoft.com/office/drawing/2014/main" id="{900D753F-640D-44AB-A11E-4A6A37B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19850"/>
            <a:ext cx="13906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DDF1"/>
          </a:solidFill>
          <a:ln xmlns:a="http://schemas.openxmlformats.org/drawingml/2006/main" w="14288">
            <a:solidFill>
              <a:srgbClr val="866AA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25588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725588"/>
                </a:solidFill>
                <a:latin typeface="Calibri"/>
                <a:ea typeface="Calibri"/>
                <a:cs typeface="Calibri"/>
              </a:rPr>
              <a:t>Per-channel LayerScale</a:t>
            </a:r>
          </a:p>
          <a:p xmlns:a="http://schemas.openxmlformats.org/drawingml/2006/main">
            <a:pPr algn="ctr">
              <a:defRPr sz="938" b="1">
                <a:solidFill>
                  <a:srgbClr val="725588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725588"/>
                </a:solidFill>
                <a:latin typeface="Calibri"/>
                <a:ea typeface="Calibri"/>
                <a:cs typeface="Calibri"/>
              </a:rPr>
              <a:t>α ∈ [-0.1, 0.1]</a:t>
            </a:r>
          </a:p>
        </p:txBody>
      </p:sp>
      <p:sp>
        <p:nvSpPr>
          <p:cNvPr id="317" name="residual-add">
            <a:extLst xmlns:a="http://schemas.openxmlformats.org/drawingml/2006/main">
              <a:ext uri="{FF2B5EF4-FFF2-40B4-BE49-F238E27FC236}">
                <a16:creationId xmlns:a16="http://schemas.microsoft.com/office/drawing/2014/main" id="{83DF491A-9C78-4F02-B040-6F09AB03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581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8F6"/>
          </a:solidFill>
          <a:ln xmlns:a="http://schemas.openxmlformats.org/drawingml/2006/main" w="19050">
            <a:solidFill>
              <a:srgbClr val="725588"/>
            </a:solidFill>
            <a:prstDash val="solid"/>
          </a:ln>
        </p:spPr>
        <p:txBody>
          <a:bodyPr xmlns:a="http://schemas.openxmlformats.org/drawingml/2006/main" wrap="square" lIns="0" tIns="0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558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725588"/>
                </a:solidFill>
                <a:latin typeface="Cambria Math"/>
                <a:ea typeface="Cambria Math"/>
                <a:cs typeface="Cambria Math"/>
              </a:rPr>
              <a:t>⊕</a:t>
            </a:r>
          </a:p>
        </p:txBody>
      </p:sp>
      <p:sp>
        <p:nvSpPr>
          <p:cNvPr id="318" name="enhanced-s3-layer-1">
            <a:extLst xmlns:a="http://schemas.openxmlformats.org/drawingml/2006/main">
              <a:ext uri="{FF2B5EF4-FFF2-40B4-BE49-F238E27FC236}">
                <a16:creationId xmlns:a16="http://schemas.microsoft.com/office/drawing/2014/main" id="{B641F93C-79F0-46A8-83BC-3A95AA2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1722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ED"/>
          </a:solidFill>
          <a:ln xmlns:a="http://schemas.openxmlformats.org/drawingml/2006/main" w="10478">
            <a:solidFill>
              <a:srgbClr val="3F8580"/>
            </a:solidFill>
            <a:prstDash val="solid"/>
          </a:ln>
        </p:spPr>
      </p:sp>
      <p:sp>
        <p:nvSpPr>
          <p:cNvPr id="319" name="enhanced-s3-layer-2">
            <a:extLst xmlns:a="http://schemas.openxmlformats.org/drawingml/2006/main">
              <a:ext uri="{FF2B5EF4-FFF2-40B4-BE49-F238E27FC236}">
                <a16:creationId xmlns:a16="http://schemas.microsoft.com/office/drawing/2014/main" id="{D3CD1EAF-CD55-49B3-ADAA-BB01610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62293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ED"/>
          </a:solidFill>
          <a:ln xmlns:a="http://schemas.openxmlformats.org/drawingml/2006/main" w="10478">
            <a:solidFill>
              <a:srgbClr val="3F8580"/>
            </a:solidFill>
            <a:prstDash val="solid"/>
          </a:ln>
        </p:spPr>
      </p:sp>
      <p:sp>
        <p:nvSpPr>
          <p:cNvPr id="320" name="enhanced-s3-layer-3">
            <a:extLst xmlns:a="http://schemas.openxmlformats.org/drawingml/2006/main">
              <a:ext uri="{FF2B5EF4-FFF2-40B4-BE49-F238E27FC236}">
                <a16:creationId xmlns:a16="http://schemas.microsoft.com/office/drawing/2014/main" id="{84058C13-8B74-42B2-9D35-9B41348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2865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ED"/>
          </a:solidFill>
          <a:ln xmlns:a="http://schemas.openxmlformats.org/drawingml/2006/main" w="10478">
            <a:solidFill>
              <a:srgbClr val="3F8580"/>
            </a:solidFill>
            <a:prstDash val="solid"/>
          </a:ln>
        </p:spPr>
      </p:sp>
      <p:sp>
        <p:nvSpPr>
          <p:cNvPr id="321" name="enhanced-s3-layer-4">
            <a:extLst xmlns:a="http://schemas.openxmlformats.org/drawingml/2006/main">
              <a:ext uri="{FF2B5EF4-FFF2-40B4-BE49-F238E27FC236}">
                <a16:creationId xmlns:a16="http://schemas.microsoft.com/office/drawing/2014/main" id="{E6826028-7188-44A0-956B-7AE6469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3436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7B2"/>
          </a:solidFill>
          <a:ln xmlns:a="http://schemas.openxmlformats.org/drawingml/2006/main" w="17145">
            <a:solidFill>
              <a:srgbClr val="3F8580"/>
            </a:solidFill>
            <a:prstDash val="solid"/>
          </a:ln>
        </p:spPr>
      </p:sp>
      <p:sp>
        <p:nvSpPr>
          <p:cNvPr id="322" name="enhanced-s3-grid-v-1">
            <a:extLst xmlns:a="http://schemas.openxmlformats.org/drawingml/2006/main">
              <a:ext uri="{FF2B5EF4-FFF2-40B4-BE49-F238E27FC236}">
                <a16:creationId xmlns:a16="http://schemas.microsoft.com/office/drawing/2014/main" id="{D8EC7065-95E4-403E-AFE4-8AC3E1C4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900" y="63436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F8580"/>
            </a:solidFill>
            <a:prstDash val="solid"/>
          </a:ln>
        </p:spPr>
      </p:sp>
      <p:sp>
        <p:nvSpPr>
          <p:cNvPr id="323" name="enhanced-s3-grid-v-2">
            <a:extLst xmlns:a="http://schemas.openxmlformats.org/drawingml/2006/main">
              <a:ext uri="{FF2B5EF4-FFF2-40B4-BE49-F238E27FC236}">
                <a16:creationId xmlns:a16="http://schemas.microsoft.com/office/drawing/2014/main" id="{5E3060A9-3278-4C12-B81D-BBA490A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0" y="63436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F8580"/>
            </a:solidFill>
            <a:prstDash val="solid"/>
          </a:ln>
        </p:spPr>
      </p:sp>
      <p:sp>
        <p:nvSpPr>
          <p:cNvPr id="324" name="enhanced-s3-grid-h-1">
            <a:extLst xmlns:a="http://schemas.openxmlformats.org/drawingml/2006/main">
              <a:ext uri="{FF2B5EF4-FFF2-40B4-BE49-F238E27FC236}">
                <a16:creationId xmlns:a16="http://schemas.microsoft.com/office/drawing/2014/main" id="{D5335A78-7957-4409-9AF3-4357E4E1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635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F8580"/>
            </a:solidFill>
            <a:prstDash val="solid"/>
          </a:ln>
        </p:spPr>
      </p:sp>
      <p:sp>
        <p:nvSpPr>
          <p:cNvPr id="325" name="enhanced-s3-grid-h-2">
            <a:extLst xmlns:a="http://schemas.openxmlformats.org/drawingml/2006/main">
              <a:ext uri="{FF2B5EF4-FFF2-40B4-BE49-F238E27FC236}">
                <a16:creationId xmlns:a16="http://schemas.microsoft.com/office/drawing/2014/main" id="{25B07163-F4CA-4EF2-8100-BD209836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927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F8580"/>
            </a:solidFill>
            <a:prstDash val="solid"/>
          </a:ln>
        </p:spPr>
      </p:sp>
      <p:sp>
        <p:nvSpPr>
          <p:cNvPr id="326" name="enhanced-s3-label">
            <a:extLst xmlns:a="http://schemas.openxmlformats.org/drawingml/2006/main">
              <a:ext uri="{FF2B5EF4-FFF2-40B4-BE49-F238E27FC236}">
                <a16:creationId xmlns:a16="http://schemas.microsoft.com/office/drawing/2014/main" id="{87D52B03-F717-4972-AD33-943B83A3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597777"/>
            <a:ext cx="704850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F5FCFB"/>
          </a:solidFill>
          <a:ln xmlns:a="http://schemas.openxmlformats.org/drawingml/2006/main" w="7620">
            <a:solidFill>
              <a:srgbClr val="3F8580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F858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3F8580"/>
                </a:solidFill>
                <a:latin typeface="Calibri"/>
                <a:ea typeface="Calibri"/>
                <a:cs typeface="Calibri"/>
              </a:rPr>
              <a:t>Enhanced</a:t>
            </a:r>
          </a:p>
          <a:p xmlns:a="http://schemas.openxmlformats.org/drawingml/2006/main">
            <a:pPr algn="ctr">
              <a:defRPr sz="825" b="1">
                <a:solidFill>
                  <a:srgbClr val="3F858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3F8580"/>
                </a:solidFill>
                <a:latin typeface="Calibri"/>
                <a:ea typeface="Calibri"/>
                <a:cs typeface="Calibri"/>
              </a:rPr>
              <a:t>S3</a:t>
            </a:r>
          </a:p>
        </p:txBody>
      </p:sp>
      <p:sp>
        <p:nvSpPr>
          <p:cNvPr id="327" name="fusion-formula">
            <a:extLst xmlns:a="http://schemas.openxmlformats.org/drawingml/2006/main">
              <a:ext uri="{FF2B5EF4-FFF2-40B4-BE49-F238E27FC236}">
                <a16:creationId xmlns:a16="http://schemas.microsoft.com/office/drawing/2014/main" id="{86AC64E1-D009-4BA3-A600-C2A350D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305675"/>
            <a:ext cx="43624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F9FE"/>
          </a:solidFill>
          <a:ln xmlns:a="http://schemas.openxmlformats.org/drawingml/2006/main" w="7620">
            <a:solidFill>
              <a:srgbClr val="D7C8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8861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5588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>
                <a:solidFill>
                  <a:srgbClr val="725588"/>
                </a:solidFill>
                <a:latin typeface="Cambria Math"/>
                <a:ea typeface="Cambria Math"/>
                <a:cs typeface="Cambria Math"/>
              </a:rPr>
              <a:t>Enhanced S3 = Projected S3 + α ⊙ OutputProjection(Calibrated Edge Feature ⊙ Gate Map)</a:t>
            </a:r>
          </a:p>
        </p:txBody>
      </p:sp>
      <p:cxnSp>
        <p:nvCxnSpPr>
          <p:cNvPr id="469" name=""/>
          <p:cNvCxnSpPr>
            <a:stCxn xmlns:a="http://schemas.openxmlformats.org/drawingml/2006/main" id="243" idx="3"/>
            <a:endCxn xmlns:a="http://schemas.openxmlformats.org/drawingml/2006/main" id="260" idx="1"/>
          </p:cNvCxnSpPr>
          <p:nvPr/>
        </p:nvCxnSpPr>
        <p:spPr>
          <a:xfrm xmlns:a="http://schemas.openxmlformats.org/drawingml/2006/main" flipV="1">
            <a:off x="1428750" y="2257425"/>
            <a:ext cx="542925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0" name=""/>
          <p:cNvCxnSpPr>
            <a:stCxn xmlns:a="http://schemas.openxmlformats.org/drawingml/2006/main" id="260" idx="2"/>
            <a:endCxn xmlns:a="http://schemas.openxmlformats.org/drawingml/2006/main" id="261" idx="0"/>
          </p:cNvCxnSpPr>
          <p:nvPr/>
        </p:nvCxnSpPr>
        <p:spPr>
          <a:xfrm xmlns:a="http://schemas.openxmlformats.org/drawingml/2006/main">
            <a:off x="2752725" y="25050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1" name=""/>
          <p:cNvCxnSpPr>
            <a:stCxn xmlns:a="http://schemas.openxmlformats.org/drawingml/2006/main" id="252" idx="3"/>
            <a:endCxn xmlns:a="http://schemas.openxmlformats.org/drawingml/2006/main" id="262" idx="1"/>
          </p:cNvCxnSpPr>
          <p:nvPr/>
        </p:nvCxnSpPr>
        <p:spPr>
          <a:xfrm xmlns:a="http://schemas.openxmlformats.org/drawingml/2006/main" flipV="1">
            <a:off x="1428750" y="5067300"/>
            <a:ext cx="542925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2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2752725" y="53149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3" name=""/>
          <p:cNvCxnSpPr>
            <a:stCxn xmlns:a="http://schemas.openxmlformats.org/drawingml/2006/main" id="261" idx="3"/>
            <a:endCxn xmlns:a="http://schemas.openxmlformats.org/drawingml/2006/main" id="264" idx="2"/>
          </p:cNvCxnSpPr>
          <p:nvPr/>
        </p:nvCxnSpPr>
        <p:spPr>
          <a:xfrm xmlns:a="http://schemas.openxmlformats.org/drawingml/2006/main" flipV="1">
            <a:off x="3533775" y="2533650"/>
            <a:ext cx="762000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4" name=""/>
          <p:cNvCxnSpPr>
            <a:stCxn xmlns:a="http://schemas.openxmlformats.org/drawingml/2006/main" id="264" idx="6"/>
            <a:endCxn xmlns:a="http://schemas.openxmlformats.org/drawingml/2006/main" id="265" idx="1"/>
          </p:cNvCxnSpPr>
          <p:nvPr/>
        </p:nvCxnSpPr>
        <p:spPr>
          <a:xfrm xmlns:a="http://schemas.openxmlformats.org/drawingml/2006/main" flipV="1">
            <a:off x="4391025" y="2028825"/>
            <a:ext cx="371475" cy="504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5" name=""/>
          <p:cNvCxnSpPr>
            <a:stCxn xmlns:a="http://schemas.openxmlformats.org/drawingml/2006/main" id="264" idx="6"/>
            <a:endCxn xmlns:a="http://schemas.openxmlformats.org/drawingml/2006/main" id="276" idx="1"/>
          </p:cNvCxnSpPr>
          <p:nvPr/>
        </p:nvCxnSpPr>
        <p:spPr>
          <a:xfrm xmlns:a="http://schemas.openxmlformats.org/drawingml/2006/main">
            <a:off x="4391025" y="2533650"/>
            <a:ext cx="371475" cy="600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6" name=""/>
          <p:cNvCxnSpPr>
            <a:stCxn xmlns:a="http://schemas.openxmlformats.org/drawingml/2006/main" id="265" idx="3"/>
            <a:endCxn xmlns:a="http://schemas.openxmlformats.org/drawingml/2006/main" id="287" idx="2"/>
          </p:cNvCxnSpPr>
          <p:nvPr/>
        </p:nvCxnSpPr>
        <p:spPr>
          <a:xfrm xmlns:a="http://schemas.openxmlformats.org/drawingml/2006/main">
            <a:off x="5981700" y="2028825"/>
            <a:ext cx="266700" cy="504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7" name=""/>
          <p:cNvCxnSpPr>
            <a:stCxn xmlns:a="http://schemas.openxmlformats.org/drawingml/2006/main" id="276" idx="3"/>
            <a:endCxn xmlns:a="http://schemas.openxmlformats.org/drawingml/2006/main" id="287" idx="2"/>
          </p:cNvCxnSpPr>
          <p:nvPr/>
        </p:nvCxnSpPr>
        <p:spPr>
          <a:xfrm xmlns:a="http://schemas.openxmlformats.org/drawingml/2006/main" flipV="1">
            <a:off x="5981700" y="2533650"/>
            <a:ext cx="266700" cy="600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8" name=""/>
          <p:cNvCxnSpPr>
            <a:stCxn xmlns:a="http://schemas.openxmlformats.org/drawingml/2006/main" id="287" idx="6"/>
            <a:endCxn xmlns:a="http://schemas.openxmlformats.org/drawingml/2006/main" id="288" idx="1"/>
          </p:cNvCxnSpPr>
          <p:nvPr/>
        </p:nvCxnSpPr>
        <p:spPr>
          <a:xfrm xmlns:a="http://schemas.openxmlformats.org/drawingml/2006/main" flipV="1">
            <a:off x="6343650" y="2524125"/>
            <a:ext cx="2286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79" name=""/>
          <p:cNvCxnSpPr>
            <a:stCxn xmlns:a="http://schemas.openxmlformats.org/drawingml/2006/main" id="288" idx="3"/>
            <a:endCxn xmlns:a="http://schemas.openxmlformats.org/drawingml/2006/main" id="289" idx="1"/>
          </p:cNvCxnSpPr>
          <p:nvPr/>
        </p:nvCxnSpPr>
        <p:spPr>
          <a:xfrm xmlns:a="http://schemas.openxmlformats.org/drawingml/2006/main">
            <a:off x="7677150" y="2524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80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9029700" y="2524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81" name=""/>
          <p:cNvCxnSpPr>
            <a:stCxn xmlns:a="http://schemas.openxmlformats.org/drawingml/2006/main" id="290" idx="3"/>
            <a:endCxn xmlns:a="http://schemas.openxmlformats.org/drawingml/2006/main" id="291" idx="1"/>
          </p:cNvCxnSpPr>
          <p:nvPr/>
        </p:nvCxnSpPr>
        <p:spPr>
          <a:xfrm xmlns:a="http://schemas.openxmlformats.org/drawingml/2006/main">
            <a:off x="10134600" y="25241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82" name=""/>
          <p:cNvCxnSpPr>
            <a:stCxn xmlns:a="http://schemas.openxmlformats.org/drawingml/2006/main" id="291" idx="3"/>
            <a:endCxn xmlns:a="http://schemas.openxmlformats.org/drawingml/2006/main" id="294" idx="1"/>
          </p:cNvCxnSpPr>
          <p:nvPr/>
        </p:nvCxnSpPr>
        <p:spPr>
          <a:xfrm xmlns:a="http://schemas.openxmlformats.org/drawingml/2006/main">
            <a:off x="11058525" y="252412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sp>
        <p:nvSpPr>
          <p:cNvPr id="342" name="s3-to-gate-route-left">
            <a:extLst xmlns:a="http://schemas.openxmlformats.org/drawingml/2006/main">
              <a:ext uri="{FF2B5EF4-FFF2-40B4-BE49-F238E27FC236}">
                <a16:creationId xmlns:a16="http://schemas.microsoft.com/office/drawing/2014/main" id="{2E2FB79E-5AAF-4529-B45C-6B28A27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3" name="s3-to-gate-route-top">
            <a:extLst xmlns:a="http://schemas.openxmlformats.org/drawingml/2006/main">
              <a:ext uri="{FF2B5EF4-FFF2-40B4-BE49-F238E27FC236}">
                <a16:creationId xmlns:a16="http://schemas.microsoft.com/office/drawing/2014/main" id="{7B912824-2D66-4DF2-986E-E42E02B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5" name=""/>
          <p:cNvCxnSpPr>
            <a:stCxn xmlns:a="http://schemas.openxmlformats.org/drawingml/2006/main" id="261" idx="3"/>
            <a:endCxn xmlns:a="http://schemas.openxmlformats.org/drawingml/2006/main" id="342" idx="0"/>
          </p:cNvCxnSpPr>
          <p:nvPr/>
        </p:nvCxnSpPr>
        <p:spPr>
          <a:xfrm xmlns:a="http://schemas.openxmlformats.org/drawingml/2006/main">
            <a:off x="3533775" y="2952750"/>
            <a:ext cx="352425" cy="1562100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486" name=""/>
          <p:cNvCxnSpPr>
            <a:stCxn xmlns:a="http://schemas.openxmlformats.org/drawingml/2006/main" id="342" idx="6"/>
            <a:endCxn xmlns:a="http://schemas.openxmlformats.org/drawingml/2006/main" id="343" idx="2"/>
          </p:cNvCxnSpPr>
          <p:nvPr/>
        </p:nvCxnSpPr>
        <p:spPr>
          <a:xfrm xmlns:a="http://schemas.openxmlformats.org/drawingml/2006/main">
            <a:off x="3895725" y="45243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487" name=""/>
          <p:cNvCxnSpPr>
            <a:stCxn xmlns:a="http://schemas.openxmlformats.org/drawingml/2006/main" id="343" idx="4"/>
            <a:endCxn xmlns:a="http://schemas.openxmlformats.org/drawingml/2006/main" id="300" idx="0"/>
          </p:cNvCxnSpPr>
          <p:nvPr/>
        </p:nvCxnSpPr>
        <p:spPr>
          <a:xfrm xmlns:a="http://schemas.openxmlformats.org/drawingml/2006/main">
            <a:off x="5381625" y="45339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88" name=""/>
          <p:cNvCxnSpPr>
            <a:stCxn xmlns:a="http://schemas.openxmlformats.org/drawingml/2006/main" id="263" idx="3"/>
            <a:endCxn xmlns:a="http://schemas.openxmlformats.org/drawingml/2006/main" id="300" idx="2"/>
          </p:cNvCxnSpPr>
          <p:nvPr/>
        </p:nvCxnSpPr>
        <p:spPr>
          <a:xfrm xmlns:a="http://schemas.openxmlformats.org/drawingml/2006/main" flipV="1">
            <a:off x="3533775" y="5257800"/>
            <a:ext cx="1847850" cy="504825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89" name=""/>
          <p:cNvCxnSpPr>
            <a:stCxn xmlns:a="http://schemas.openxmlformats.org/drawingml/2006/main" id="300" idx="3"/>
            <a:endCxn xmlns:a="http://schemas.openxmlformats.org/drawingml/2006/main" id="301" idx="1"/>
          </p:cNvCxnSpPr>
          <p:nvPr/>
        </p:nvCxnSpPr>
        <p:spPr>
          <a:xfrm xmlns:a="http://schemas.openxmlformats.org/drawingml/2006/main">
            <a:off x="6000750" y="4953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90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7600950" y="4953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91" name=""/>
          <p:cNvCxnSpPr>
            <a:stCxn xmlns:a="http://schemas.openxmlformats.org/drawingml/2006/main" id="302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>
            <a:off x="8743950" y="49530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92" name=""/>
          <p:cNvCxnSpPr>
            <a:stCxn xmlns:a="http://schemas.openxmlformats.org/drawingml/2006/main" id="303" idx="3"/>
            <a:endCxn xmlns:a="http://schemas.openxmlformats.org/drawingml/2006/main" id="304" idx="1"/>
          </p:cNvCxnSpPr>
          <p:nvPr/>
        </p:nvCxnSpPr>
        <p:spPr>
          <a:xfrm xmlns:a="http://schemas.openxmlformats.org/drawingml/2006/main">
            <a:off x="10353675" y="4953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493" name=""/>
          <p:cNvCxnSpPr>
            <a:stCxn xmlns:a="http://schemas.openxmlformats.org/drawingml/2006/main" id="304" idx="3"/>
            <a:endCxn xmlns:a="http://schemas.openxmlformats.org/drawingml/2006/main" id="307" idx="1"/>
          </p:cNvCxnSpPr>
          <p:nvPr/>
        </p:nvCxnSpPr>
        <p:spPr>
          <a:xfrm xmlns:a="http://schemas.openxmlformats.org/drawingml/2006/main">
            <a:off x="11553825" y="49530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sp>
        <p:nvSpPr>
          <p:cNvPr id="353" name="edge-to-fusion-route-right">
            <a:extLst xmlns:a="http://schemas.openxmlformats.org/drawingml/2006/main">
              <a:ext uri="{FF2B5EF4-FFF2-40B4-BE49-F238E27FC236}">
                <a16:creationId xmlns:a16="http://schemas.microsoft.com/office/drawing/2014/main" id="{036785D5-6CE0-44CE-B6E7-1B9BFB41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60674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4" name="edge-to-fusion-route-left">
            <a:extLst xmlns:a="http://schemas.openxmlformats.org/drawingml/2006/main">
              <a:ext uri="{FF2B5EF4-FFF2-40B4-BE49-F238E27FC236}">
                <a16:creationId xmlns:a16="http://schemas.microsoft.com/office/drawing/2014/main" id="{9E40EDA1-9842-47CF-B4B0-0A1B0B4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674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5" name="gate-to-fusion-route">
            <a:extLst xmlns:a="http://schemas.openxmlformats.org/drawingml/2006/main">
              <a:ext uri="{FF2B5EF4-FFF2-40B4-BE49-F238E27FC236}">
                <a16:creationId xmlns:a16="http://schemas.microsoft.com/office/drawing/2014/main" id="{4773699D-9982-413C-8038-B07ED22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62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7" name=""/>
          <p:cNvCxnSpPr>
            <a:stCxn xmlns:a="http://schemas.openxmlformats.org/drawingml/2006/main" id="294" idx="3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12534900" y="2524125"/>
            <a:ext cx="209550" cy="3543300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498" name=""/>
          <p:cNvCxnSpPr>
            <a:stCxn xmlns:a="http://schemas.openxmlformats.org/drawingml/2006/main" id="353" idx="2"/>
            <a:endCxn xmlns:a="http://schemas.openxmlformats.org/drawingml/2006/main" id="354" idx="6"/>
          </p:cNvCxnSpPr>
          <p:nvPr/>
        </p:nvCxnSpPr>
        <p:spPr>
          <a:xfrm xmlns:a="http://schemas.openxmlformats.org/drawingml/2006/main" flipH="1">
            <a:off x="9696450" y="6076950"/>
            <a:ext cx="3038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499" name=""/>
          <p:cNvCxnSpPr>
            <a:stCxn xmlns:a="http://schemas.openxmlformats.org/drawingml/2006/main" id="354" idx="4"/>
            <a:endCxn xmlns:a="http://schemas.openxmlformats.org/drawingml/2006/main" id="314" idx="0"/>
          </p:cNvCxnSpPr>
          <p:nvPr/>
        </p:nvCxnSpPr>
        <p:spPr>
          <a:xfrm xmlns:a="http://schemas.openxmlformats.org/drawingml/2006/main">
            <a:off x="9686925" y="60864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500" name=""/>
          <p:cNvCxnSpPr>
            <a:stCxn xmlns:a="http://schemas.openxmlformats.org/drawingml/2006/main" id="307" idx="2"/>
            <a:endCxn xmlns:a="http://schemas.openxmlformats.org/drawingml/2006/main" id="355" idx="0"/>
          </p:cNvCxnSpPr>
          <p:nvPr/>
        </p:nvCxnSpPr>
        <p:spPr>
          <a:xfrm xmlns:a="http://schemas.openxmlformats.org/drawingml/2006/main" flipH="1">
            <a:off x="9191625" y="5314950"/>
            <a:ext cx="3048000" cy="1447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501" name=""/>
          <p:cNvCxnSpPr>
            <a:stCxn xmlns:a="http://schemas.openxmlformats.org/drawingml/2006/main" id="355" idx="6"/>
            <a:endCxn xmlns:a="http://schemas.openxmlformats.org/drawingml/2006/main" id="314" idx="2"/>
          </p:cNvCxnSpPr>
          <p:nvPr/>
        </p:nvCxnSpPr>
        <p:spPr>
          <a:xfrm xmlns:a="http://schemas.openxmlformats.org/drawingml/2006/main">
            <a:off x="9201150" y="67722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502" name=""/>
          <p:cNvCxnSpPr>
            <a:stCxn xmlns:a="http://schemas.openxmlformats.org/drawingml/2006/main" id="314" idx="6"/>
            <a:endCxn xmlns:a="http://schemas.openxmlformats.org/drawingml/2006/main" id="315" idx="1"/>
          </p:cNvCxnSpPr>
          <p:nvPr/>
        </p:nvCxnSpPr>
        <p:spPr>
          <a:xfrm xmlns:a="http://schemas.openxmlformats.org/drawingml/2006/main">
            <a:off x="9877425" y="67722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503" name=""/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>
            <a:off x="11315700" y="67722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504" name=""/>
          <p:cNvCxnSpPr>
            <a:stCxn xmlns:a="http://schemas.openxmlformats.org/drawingml/2006/main" id="316" idx="3"/>
            <a:endCxn xmlns:a="http://schemas.openxmlformats.org/drawingml/2006/main" id="317" idx="2"/>
          </p:cNvCxnSpPr>
          <p:nvPr/>
        </p:nvCxnSpPr>
        <p:spPr>
          <a:xfrm xmlns:a="http://schemas.openxmlformats.org/drawingml/2006/main">
            <a:off x="12896850" y="67722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cxnSp>
        <p:nvCxnSpPr>
          <p:cNvPr id="505" name=""/>
          <p:cNvCxnSpPr>
            <a:stCxn xmlns:a="http://schemas.openxmlformats.org/drawingml/2006/main" id="317" idx="6"/>
            <a:endCxn xmlns:a="http://schemas.openxmlformats.org/drawingml/2006/main" id="321" idx="1"/>
          </p:cNvCxnSpPr>
          <p:nvPr/>
        </p:nvCxnSpPr>
        <p:spPr>
          <a:xfrm xmlns:a="http://schemas.openxmlformats.org/drawingml/2006/main">
            <a:off x="13430250" y="6772275"/>
            <a:ext cx="5905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  <p:sp>
        <p:nvSpPr>
          <p:cNvPr id="365" name="residual-route-upper">
            <a:extLst xmlns:a="http://schemas.openxmlformats.org/drawingml/2006/main">
              <a:ext uri="{FF2B5EF4-FFF2-40B4-BE49-F238E27FC236}">
                <a16:creationId xmlns:a16="http://schemas.microsoft.com/office/drawing/2014/main" id="{67F96859-7832-4132-9263-98E04715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004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6" name="residual-route-left">
            <a:extLst xmlns:a="http://schemas.openxmlformats.org/drawingml/2006/main">
              <a:ext uri="{FF2B5EF4-FFF2-40B4-BE49-F238E27FC236}">
                <a16:creationId xmlns:a16="http://schemas.microsoft.com/office/drawing/2014/main" id="{5B5B4440-BB2B-4C32-BC69-44D0FEE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0200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7" name="residual-route-right">
            <a:extLst xmlns:a="http://schemas.openxmlformats.org/drawingml/2006/main">
              <a:ext uri="{FF2B5EF4-FFF2-40B4-BE49-F238E27FC236}">
                <a16:creationId xmlns:a16="http://schemas.microsoft.com/office/drawing/2014/main" id="{FF0EF3CA-A0C7-4949-A0A1-4624FCF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80200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9" name=""/>
          <p:cNvCxnSpPr>
            <a:stCxn xmlns:a="http://schemas.openxmlformats.org/drawingml/2006/main" id="243" idx="3"/>
            <a:endCxn xmlns:a="http://schemas.openxmlformats.org/drawingml/2006/main" id="365" idx="0"/>
          </p:cNvCxnSpPr>
          <p:nvPr/>
        </p:nvCxnSpPr>
        <p:spPr>
          <a:xfrm xmlns:a="http://schemas.openxmlformats.org/drawingml/2006/main">
            <a:off x="1428750" y="2514600"/>
            <a:ext cx="247650" cy="885825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510" name=""/>
          <p:cNvCxnSpPr>
            <a:stCxn xmlns:a="http://schemas.openxmlformats.org/drawingml/2006/main" id="365" idx="4"/>
            <a:endCxn xmlns:a="http://schemas.openxmlformats.org/drawingml/2006/main" id="366" idx="0"/>
          </p:cNvCxnSpPr>
          <p:nvPr/>
        </p:nvCxnSpPr>
        <p:spPr>
          <a:xfrm xmlns:a="http://schemas.openxmlformats.org/drawingml/2006/main">
            <a:off x="1676400" y="3419475"/>
            <a:ext cx="0" cy="46005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511" name=""/>
          <p:cNvCxnSpPr>
            <a:stCxn xmlns:a="http://schemas.openxmlformats.org/drawingml/2006/main" id="366" idx="6"/>
            <a:endCxn xmlns:a="http://schemas.openxmlformats.org/drawingml/2006/main" id="367" idx="2"/>
          </p:cNvCxnSpPr>
          <p:nvPr/>
        </p:nvCxnSpPr>
        <p:spPr>
          <a:xfrm xmlns:a="http://schemas.openxmlformats.org/drawingml/2006/main">
            <a:off x="1685925" y="8029575"/>
            <a:ext cx="11544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none" w="med" len="med"/>
          </a:ln>
        </p:spPr>
      </p:cxnSp>
      <p:cxnSp>
        <p:nvCxnSpPr>
          <p:cNvPr id="512" name=""/>
          <p:cNvCxnSpPr>
            <a:stCxn xmlns:a="http://schemas.openxmlformats.org/drawingml/2006/main" id="367" idx="0"/>
            <a:endCxn xmlns:a="http://schemas.openxmlformats.org/drawingml/2006/main" id="317" idx="4"/>
          </p:cNvCxnSpPr>
          <p:nvPr/>
        </p:nvCxnSpPr>
        <p:spPr>
          <a:xfrm xmlns:a="http://schemas.openxmlformats.org/drawingml/2006/main" flipV="1">
            <a:off x="13239750" y="6962775"/>
            <a:ext cx="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1657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6116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2026-09-02T11:55:04.4230000Z</dcterms:created>
  <dcterms:modified xsi:type="dcterms:W3CDTF">2026-09-02T11:55:04.4240000Z</dcterms:modified>
</coreProperties>
</file>