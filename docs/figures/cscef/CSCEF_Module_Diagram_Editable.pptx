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cf60f82f454582" /><Relationship Type="http://schemas.openxmlformats.org/officeDocument/2006/relationships/extended-properties" Target="/docProps/app.xml" Id="R2f705e7fd29f4b3b" /><Relationship Type="http://schemas.openxmlformats.org/officeDocument/2006/relationships/officeDocument" Target="/ppt/presentation.xml" Id="R564ed0492bc3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38e2cd78e24085"/>
  </p:sldMasterIdLst>
  <p:notesMasterIdLst>
    <p:notesMasterId xmlns:r="http://schemas.openxmlformats.org/officeDocument/2006/relationships" r:id="R4e4ff2563c234e67"/>
  </p:notesMasterIdLst>
  <p:sldIdLst>
    <p:sldId xmlns:r="http://schemas.openxmlformats.org/officeDocument/2006/relationships" id="256" r:id="Ra028cd5bff5049f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b9bf4b6df84d25" /><Relationship Type="http://schemas.openxmlformats.org/officeDocument/2006/relationships/slideMaster" Target="/ppt/slideMasters/slideMaster1.xml" Id="Rf138e2cd78e24085" /><Relationship Type="http://schemas.openxmlformats.org/officeDocument/2006/relationships/notesMaster" Target="/ppt/notesMasters/notesMaster1.xml" Id="R4e4ff2563c234e67" /><Relationship Type="http://schemas.openxmlformats.org/officeDocument/2006/relationships/presProps" Target="/ppt/presProps.xml" Id="R87a1624002ff47df" /><Relationship Type="http://schemas.openxmlformats.org/officeDocument/2006/relationships/tableStyles" Target="/ppt/tableStyles.xml" Id="Rca2492169941426e" /><Relationship Type="http://schemas.openxmlformats.org/officeDocument/2006/relationships/slide" Target="/ppt/slides/slide1.xml" Id="Ra028cd5bff5049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acb50bae7a49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f893c1d48d43e1" /><Relationship Type="http://schemas.openxmlformats.org/officeDocument/2006/relationships/notesMaster" Target="/ppt/notesMasters/notesMaster1.xml" Id="R77b39cce623f46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CSCEF implementation note: for a 640×640 input, the tensors at this insertion point are typically [1, 256, 80, 80]. The diagram uses B×C×H×W notation to remain input-size agnostic.</a:t>
            </a:r>
          </a:p>
          <a:p xmlns:a="http://schemas.openxmlformats.org/drawingml/2006/main">
            <a:r>
              <a:t>Fixed Scharr kernels are registered buffers and are L1-normalized. The magnitude computation promotes FP16/BF16 intermediates to FP32 for numerical stability; this implementation detail is intentionally kept in notes rather than expanded in the main figure.</a:t>
            </a:r>
          </a:p>
          <a:p xmlns:a="http://schemas.openxmlformats.org/drawingml/2006/main">
            <a:r>
              <a:t>The learnable similarity scale a initializes to 1, similarity bias b initializes to 0, and residual scale gamma initializes to 0, so the module begins as an exact identity mapping.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D:\MyProjects\Crack_RTDETR\ultralytics-main\ultralytics\nn\modules\cscef.py</a:t>
            </a:r>
          </a:p>
          <a:p xmlns:a="http://schemas.openxmlformats.org/drawingml/2006/main">
            <a:r>
              <a:t>- D:\MyProjects\Crack_RTDETR\ultralytics-main\ultralytics\cfg\models\rt-detr\rtdetr-resnet18-lite-cscef.yaml</a:t>
            </a:r>
          </a:p>
          <a:p xmlns:a="http://schemas.openxmlformats.org/drawingml/2006/main">
            <a:r>
              <a:t>- D:\MyProjects\Crack_RTDETR\ultralytics-main\ultralytics\nn\tasks.py</a:t>
            </a:r>
          </a:p>
          <a:p xmlns:a="http://schemas.openxmlformats.org/drawingml/2006/main">
            <a:r>
              <a:t>- D:\MyProjects\Crack_RTDETR\ultralytics-main\tests\test_cscef.py</a:t>
            </a:r>
          </a:p>
          <a:p xmlns:a="http://schemas.openxmlformats.org/drawingml/2006/main">
            <a:r>
              <a:t>- D:\MyProjects\Crack_RTDETR\tools\audit_rtdetr_r18_lite_cscef.py</a:t>
            </a:r>
          </a:p>
          <a:p xmlns:a="http://schemas.openxmlformats.org/drawingml/2006/main">
            <a:r>
              <a:t>- User-provided PNG/PPTX/ZIP visual references (visual language only; no embedded or copied diagram).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1794bbf4d48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af168d09304d31" /><Relationship Type="http://schemas.openxmlformats.org/officeDocument/2006/relationships/slideLayout" Target="/ppt/slideLayouts/slideLayout1.xml" Id="Ra981ecae79a8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81ecae79a8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d2a06396c4b4d" /><Relationship Type="http://schemas.openxmlformats.org/officeDocument/2006/relationships/notesSlide" Target="/ppt/notesSlides/notesSlide1.xml" Id="Rcfe197e807c94a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diagram-title">
            <a:extLst xmlns:a="http://schemas.openxmlformats.org/drawingml/2006/main">
              <a:ext uri="{FF2B5EF4-FFF2-40B4-BE49-F238E27FC236}">
                <a16:creationId xmlns:a16="http://schemas.microsoft.com/office/drawing/2014/main" id="{F3AE0794-FF3B-48AC-9033-DFFB3A54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"/>
            <a:ext cx="1390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Cross-Scale Semantic-Consistency Edge Fusion (CSCEF)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1B20EE-8770-40DF-A7C1-FC0C4CFF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386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8CCD0"/>
            </a:solidFill>
            <a:prstDash val="solid"/>
          </a:ln>
        </p:spPr>
      </p:sp>
      <p:sp>
        <p:nvSpPr>
          <p:cNvPr id="3" name="cscef-main-boundary">
            <a:extLst xmlns:a="http://schemas.openxmlformats.org/drawingml/2006/main">
              <a:ext uri="{FF2B5EF4-FFF2-40B4-BE49-F238E27FC236}">
                <a16:creationId xmlns:a16="http://schemas.microsoft.com/office/drawing/2014/main" id="{52B13AA2-7B45-4743-AAE9-846D345F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76300"/>
            <a:ext cx="12592050" cy="7219950"/>
          </a:xfrm>
          <a:prstGeom xmlns:a="http://schemas.openxmlformats.org/drawingml/2006/main" prst="roundRect">
            <a:avLst>
              <a:gd name="adj" fmla="val 1583"/>
            </a:avLst>
          </a:prstGeom>
          <a:ln xmlns:a="http://schemas.openxmlformats.org/drawingml/2006/main" w="17145">
            <a:solidFill>
              <a:srgbClr val="707982"/>
            </a:solidFill>
            <a:prstDash val="dash"/>
          </a:ln>
        </p:spPr>
      </p:sp>
      <p:sp>
        <p:nvSpPr>
          <p:cNvPr id="4" name="cscef-badge">
            <a:extLst xmlns:a="http://schemas.openxmlformats.org/drawingml/2006/main">
              <a:ext uri="{FF2B5EF4-FFF2-40B4-BE49-F238E27FC236}">
                <a16:creationId xmlns:a16="http://schemas.microsoft.com/office/drawing/2014/main" id="{46BB6678-144F-4B2C-B001-1D4FF9B0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07982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463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CSCEF</a:t>
            </a:r>
          </a:p>
        </p:txBody>
      </p:sp>
      <p:sp>
        <p:nvSpPr>
          <p:cNvPr id="5" name="edge-boundary">
            <a:extLst xmlns:a="http://schemas.openxmlformats.org/drawingml/2006/main">
              <a:ext uri="{FF2B5EF4-FFF2-40B4-BE49-F238E27FC236}">
                <a16:creationId xmlns:a16="http://schemas.microsoft.com/office/drawing/2014/main" id="{0040673A-384A-46CE-9356-27188E37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57300"/>
            <a:ext cx="5867400" cy="3048000"/>
          </a:xfrm>
          <a:prstGeom xmlns:a="http://schemas.openxmlformats.org/drawingml/2006/main" prst="roundRect">
            <a:avLst>
              <a:gd name="adj" fmla="val 3750"/>
            </a:avLst>
          </a:prstGeom>
          <a:ln xmlns:a="http://schemas.openxmlformats.org/drawingml/2006/main" w="17145">
            <a:solidFill>
              <a:srgbClr val="C87989"/>
            </a:solidFill>
            <a:prstDash val="dash"/>
          </a:ln>
        </p:spPr>
      </p:sp>
      <p:sp>
        <p:nvSpPr>
          <p:cNvPr id="6" name="edge-boundary-title">
            <a:extLst xmlns:a="http://schemas.openxmlformats.org/drawingml/2006/main">
              <a:ext uri="{FF2B5EF4-FFF2-40B4-BE49-F238E27FC236}">
                <a16:creationId xmlns:a16="http://schemas.microsoft.com/office/drawing/2014/main" id="{FD8C7942-C8EB-4E0B-80DC-D3EA77B8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33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C8798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7989"/>
                </a:solidFill>
                <a:latin typeface="Arial"/>
                <a:ea typeface="Arial"/>
                <a:cs typeface="Arial"/>
              </a:rPr>
              <a:t>Edge Extraction</a:t>
            </a:r>
          </a:p>
        </p:txBody>
      </p:sp>
      <p:sp>
        <p:nvSpPr>
          <p:cNvPr id="7" name="semantic-boundary">
            <a:extLst xmlns:a="http://schemas.openxmlformats.org/drawingml/2006/main">
              <a:ext uri="{FF2B5EF4-FFF2-40B4-BE49-F238E27FC236}">
                <a16:creationId xmlns:a16="http://schemas.microsoft.com/office/drawing/2014/main" id="{D032A18D-19E3-4947-A920-CC4C9A0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5867400" cy="2476500"/>
          </a:xfrm>
          <a:prstGeom xmlns:a="http://schemas.openxmlformats.org/drawingml/2006/main" prst="roundRect">
            <a:avLst>
              <a:gd name="adj" fmla="val 4615"/>
            </a:avLst>
          </a:prstGeom>
          <a:ln xmlns:a="http://schemas.openxmlformats.org/drawingml/2006/main" w="17145">
            <a:solidFill>
              <a:srgbClr val="75A968"/>
            </a:solidFill>
            <a:prstDash val="dash"/>
          </a:ln>
        </p:spPr>
      </p:sp>
      <p:sp>
        <p:nvSpPr>
          <p:cNvPr id="8" name="semantic-boundary-title">
            <a:extLst xmlns:a="http://schemas.openxmlformats.org/drawingml/2006/main">
              <a:ext uri="{FF2B5EF4-FFF2-40B4-BE49-F238E27FC236}">
                <a16:creationId xmlns:a16="http://schemas.microsoft.com/office/drawing/2014/main" id="{5E3E0A14-F386-47DA-A6F2-AF423768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75A9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5A968"/>
                </a:solidFill>
                <a:latin typeface="Arial"/>
                <a:ea typeface="Arial"/>
                <a:cs typeface="Arial"/>
              </a:rPr>
              <a:t>Semantic Consistency Gate</a:t>
            </a:r>
          </a:p>
        </p:txBody>
      </p:sp>
      <p:sp>
        <p:nvSpPr>
          <p:cNvPr id="9" name="fusion-boundary">
            <a:extLst xmlns:a="http://schemas.openxmlformats.org/drawingml/2006/main">
              <a:ext uri="{FF2B5EF4-FFF2-40B4-BE49-F238E27FC236}">
                <a16:creationId xmlns:a16="http://schemas.microsoft.com/office/drawing/2014/main" id="{64744C70-5FE0-46E1-ABFD-DA5CAE5E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524250"/>
            <a:ext cx="2286000" cy="3048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7145">
            <a:solidFill>
              <a:srgbClr val="9275AF"/>
            </a:solidFill>
            <a:prstDash val="dash"/>
          </a:ln>
        </p:spPr>
      </p:sp>
      <p:sp>
        <p:nvSpPr>
          <p:cNvPr id="10" name="fusion-boundary-title">
            <a:extLst xmlns:a="http://schemas.openxmlformats.org/drawingml/2006/main">
              <a:ext uri="{FF2B5EF4-FFF2-40B4-BE49-F238E27FC236}">
                <a16:creationId xmlns:a16="http://schemas.microsoft.com/office/drawing/2014/main" id="{6FDD5C67-F833-48F1-ADEE-3F91C20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600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9275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275AF"/>
                </a:solidFill>
                <a:latin typeface="Arial"/>
                <a:ea typeface="Arial"/>
                <a:cs typeface="Arial"/>
              </a:rPr>
              <a:t>Gated Residual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9275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275AF"/>
                </a:solidFill>
                <a:latin typeface="Arial"/>
                <a:ea typeface="Arial"/>
                <a:cs typeface="Arial"/>
              </a:rPr>
              <a:t>Fusion</a:t>
            </a:r>
          </a:p>
        </p:txBody>
      </p:sp>
      <p:sp>
        <p:nvSpPr>
          <p:cNvPr id="11" name="xl-sheet-1">
            <a:extLst xmlns:a="http://schemas.openxmlformats.org/drawingml/2006/main">
              <a:ext uri="{FF2B5EF4-FFF2-40B4-BE49-F238E27FC236}">
                <a16:creationId xmlns:a16="http://schemas.microsoft.com/office/drawing/2014/main" id="{303DB51D-28ED-44E1-AAC0-FA698405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933450" cy="112395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6C97C5"/>
            </a:solidFill>
            <a:prstDash val="solid"/>
          </a:ln>
        </p:spPr>
      </p:sp>
      <p:sp>
        <p:nvSpPr>
          <p:cNvPr id="12" name="xl-sheet-2">
            <a:extLst xmlns:a="http://schemas.openxmlformats.org/drawingml/2006/main">
              <a:ext uri="{FF2B5EF4-FFF2-40B4-BE49-F238E27FC236}">
                <a16:creationId xmlns:a16="http://schemas.microsoft.com/office/drawing/2014/main" id="{80E8B3AF-8A91-422D-A8B3-92E600BB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24100"/>
            <a:ext cx="933450" cy="112395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6C97C5"/>
            </a:solidFill>
            <a:prstDash val="solid"/>
          </a:ln>
        </p:spPr>
      </p:sp>
      <p:sp>
        <p:nvSpPr>
          <p:cNvPr id="13" name="xl-sheet-3">
            <a:extLst xmlns:a="http://schemas.openxmlformats.org/drawingml/2006/main">
              <a:ext uri="{FF2B5EF4-FFF2-40B4-BE49-F238E27FC236}">
                <a16:creationId xmlns:a16="http://schemas.microsoft.com/office/drawing/2014/main" id="{D061ED82-DD1A-469A-AA23-B339A2A1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933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8"/>
          </a:solidFill>
          <a:ln xmlns:a="http://schemas.openxmlformats.org/drawingml/2006/main" w="15240">
            <a:solidFill>
              <a:srgbClr val="6C97C5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X_l</a:t>
            </a:r>
          </a:p>
        </p:txBody>
      </p:sp>
      <p:sp>
        <p:nvSpPr>
          <p:cNvPr id="14" name="xl-label">
            <a:extLst xmlns:a="http://schemas.openxmlformats.org/drawingml/2006/main">
              <a:ext uri="{FF2B5EF4-FFF2-40B4-BE49-F238E27FC236}">
                <a16:creationId xmlns:a16="http://schemas.microsoft.com/office/drawing/2014/main" id="{89C17C80-290E-40BC-8F76-96B2FA53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581400"/>
            <a:ext cx="1476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Projected S3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B×256×H×W</a:t>
            </a:r>
          </a:p>
        </p:txBody>
      </p:sp>
      <p:sp>
        <p:nvSpPr>
          <p:cNvPr id="15" name="xs-sheet-1">
            <a:extLst xmlns:a="http://schemas.openxmlformats.org/drawingml/2006/main">
              <a:ext uri="{FF2B5EF4-FFF2-40B4-BE49-F238E27FC236}">
                <a16:creationId xmlns:a16="http://schemas.microsoft.com/office/drawing/2014/main" id="{4AD2A480-B7EE-4AF1-9D2E-15D94093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933450" cy="112395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D99550"/>
            </a:solidFill>
            <a:prstDash val="solid"/>
          </a:ln>
        </p:spPr>
      </p:sp>
      <p:sp>
        <p:nvSpPr>
          <p:cNvPr id="16" name="xs-sheet-2">
            <a:extLst xmlns:a="http://schemas.openxmlformats.org/drawingml/2006/main">
              <a:ext uri="{FF2B5EF4-FFF2-40B4-BE49-F238E27FC236}">
                <a16:creationId xmlns:a16="http://schemas.microsoft.com/office/drawing/2014/main" id="{E9FF4CA2-A9D8-4C8C-B633-191A07A3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933450" cy="112395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D99550"/>
            </a:solidFill>
            <a:prstDash val="solid"/>
          </a:ln>
        </p:spPr>
      </p:sp>
      <p:sp>
        <p:nvSpPr>
          <p:cNvPr id="17" name="xs-sheet-3">
            <a:extLst xmlns:a="http://schemas.openxmlformats.org/drawingml/2006/main">
              <a:ext uri="{FF2B5EF4-FFF2-40B4-BE49-F238E27FC236}">
                <a16:creationId xmlns:a16="http://schemas.microsoft.com/office/drawing/2014/main" id="{2BF9FC8B-8710-4DC5-84A0-47226A9A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76925"/>
            <a:ext cx="933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8B"/>
          </a:solidFill>
          <a:ln xmlns:a="http://schemas.openxmlformats.org/drawingml/2006/main" w="15240">
            <a:solidFill>
              <a:srgbClr val="D99550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X_s</a:t>
            </a:r>
          </a:p>
        </p:txBody>
      </p:sp>
      <p:sp>
        <p:nvSpPr>
          <p:cNvPr id="18" name="xs-label">
            <a:extLst xmlns:a="http://schemas.openxmlformats.org/drawingml/2006/main">
              <a:ext uri="{FF2B5EF4-FFF2-40B4-BE49-F238E27FC236}">
                <a16:creationId xmlns:a16="http://schemas.microsoft.com/office/drawing/2014/main" id="{9A40C241-E0A0-40F9-83FF-44BF53E4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7067550"/>
            <a:ext cx="1543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Upsampled P4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B×256×H×W</a:t>
            </a:r>
          </a:p>
        </p:txBody>
      </p:sp>
      <p:sp>
        <p:nvSpPr>
          <p:cNvPr id="19" name="lateral-projection">
            <a:extLst xmlns:a="http://schemas.openxmlformats.org/drawingml/2006/main">
              <a:ext uri="{FF2B5EF4-FFF2-40B4-BE49-F238E27FC236}">
                <a16:creationId xmlns:a16="http://schemas.microsoft.com/office/drawing/2014/main" id="{66BF4A51-8897-486A-A5E2-773AED90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14668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A9C7E8"/>
          </a:solidFill>
          <a:ln xmlns:a="http://schemas.openxmlformats.org/drawingml/2006/main" w="17145">
            <a:solidFill>
              <a:srgbClr val="6C97C5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835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Lateral Projection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1×1 Conv · 256 → 32</a:t>
            </a:r>
          </a:p>
        </p:txBody>
      </p:sp>
      <p:sp>
        <p:nvSpPr>
          <p:cNvPr id="20" name="l-map-sheet-1">
            <a:extLst xmlns:a="http://schemas.openxmlformats.org/drawingml/2006/main">
              <a:ext uri="{FF2B5EF4-FFF2-40B4-BE49-F238E27FC236}">
                <a16:creationId xmlns:a16="http://schemas.microsoft.com/office/drawing/2014/main" id="{EED7C89D-56BE-4530-8555-842DEE3A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495550"/>
            <a:ext cx="666750" cy="8382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6C97C5"/>
            </a:solidFill>
            <a:prstDash val="solid"/>
          </a:ln>
        </p:spPr>
      </p:sp>
      <p:sp>
        <p:nvSpPr>
          <p:cNvPr id="21" name="l-map-sheet-2">
            <a:extLst xmlns:a="http://schemas.openxmlformats.org/drawingml/2006/main">
              <a:ext uri="{FF2B5EF4-FFF2-40B4-BE49-F238E27FC236}">
                <a16:creationId xmlns:a16="http://schemas.microsoft.com/office/drawing/2014/main" id="{60C32812-7D3F-4ACC-B552-1710C1C3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62225"/>
            <a:ext cx="666750" cy="8382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6C97C5"/>
            </a:solidFill>
            <a:prstDash val="solid"/>
          </a:ln>
        </p:spPr>
      </p:sp>
      <p:sp>
        <p:nvSpPr>
          <p:cNvPr id="22" name="l-map-sheet-3">
            <a:extLst xmlns:a="http://schemas.openxmlformats.org/drawingml/2006/main">
              <a:ext uri="{FF2B5EF4-FFF2-40B4-BE49-F238E27FC236}">
                <a16:creationId xmlns:a16="http://schemas.microsoft.com/office/drawing/2014/main" id="{360BC74C-A89F-4D29-B48D-B6908B1A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28900"/>
            <a:ext cx="66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8"/>
          </a:solidFill>
          <a:ln xmlns:a="http://schemas.openxmlformats.org/drawingml/2006/main" w="15240">
            <a:solidFill>
              <a:srgbClr val="6C97C5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23" name="l-shape">
            <a:extLst xmlns:a="http://schemas.openxmlformats.org/drawingml/2006/main">
              <a:ext uri="{FF2B5EF4-FFF2-40B4-BE49-F238E27FC236}">
                <a16:creationId xmlns:a16="http://schemas.microsoft.com/office/drawing/2014/main" id="{263EF5EB-02DF-4ABA-B51A-5840A287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433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B×32×H×W</a:t>
            </a:r>
          </a:p>
        </p:txBody>
      </p:sp>
      <p:sp>
        <p:nvSpPr>
          <p:cNvPr id="24" name="semantic-projection">
            <a:extLst xmlns:a="http://schemas.openxmlformats.org/drawingml/2006/main">
              <a:ext uri="{FF2B5EF4-FFF2-40B4-BE49-F238E27FC236}">
                <a16:creationId xmlns:a16="http://schemas.microsoft.com/office/drawing/2014/main" id="{054FDA37-FF60-4098-A0F5-2BDDF25A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10275"/>
            <a:ext cx="14668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6C28B"/>
          </a:solidFill>
          <a:ln xmlns:a="http://schemas.openxmlformats.org/drawingml/2006/main" w="17145">
            <a:solidFill>
              <a:srgbClr val="D9955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832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Semantic Projection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1×1 Conv · 256 → 32</a:t>
            </a:r>
          </a:p>
        </p:txBody>
      </p:sp>
      <p:sp>
        <p:nvSpPr>
          <p:cNvPr id="25" name="bilinear-condition">
            <a:extLst xmlns:a="http://schemas.openxmlformats.org/drawingml/2006/main">
              <a:ext uri="{FF2B5EF4-FFF2-40B4-BE49-F238E27FC236}">
                <a16:creationId xmlns:a16="http://schemas.microsoft.com/office/drawing/2014/main" id="{A60FD799-9F8F-4294-800F-01EDC592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F73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7377"/>
                </a:solidFill>
                <a:latin typeface="Arial"/>
                <a:ea typeface="Arial"/>
                <a:cs typeface="Arial"/>
              </a:rPr>
              <a:t>Bilinear alignment if spatial size differs</a:t>
            </a:r>
          </a:p>
        </p:txBody>
      </p:sp>
      <p:sp>
        <p:nvSpPr>
          <p:cNvPr id="26" name="s-map-sheet-1">
            <a:extLst xmlns:a="http://schemas.openxmlformats.org/drawingml/2006/main">
              <a:ext uri="{FF2B5EF4-FFF2-40B4-BE49-F238E27FC236}">
                <a16:creationId xmlns:a16="http://schemas.microsoft.com/office/drawing/2014/main" id="{8E2D3DE7-980E-4EA5-8889-B2DD8BDF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905500"/>
            <a:ext cx="666750" cy="8382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D99550"/>
            </a:solidFill>
            <a:prstDash val="solid"/>
          </a:ln>
        </p:spPr>
      </p:sp>
      <p:sp>
        <p:nvSpPr>
          <p:cNvPr id="27" name="s-map-sheet-2">
            <a:extLst xmlns:a="http://schemas.openxmlformats.org/drawingml/2006/main">
              <a:ext uri="{FF2B5EF4-FFF2-40B4-BE49-F238E27FC236}">
                <a16:creationId xmlns:a16="http://schemas.microsoft.com/office/drawing/2014/main" id="{A77BA800-2E69-40F2-928F-006092E9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972175"/>
            <a:ext cx="666750" cy="8382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D99550"/>
            </a:solidFill>
            <a:prstDash val="solid"/>
          </a:ln>
        </p:spPr>
      </p:sp>
      <p:sp>
        <p:nvSpPr>
          <p:cNvPr id="28" name="s-map-sheet-3">
            <a:extLst xmlns:a="http://schemas.openxmlformats.org/drawingml/2006/main">
              <a:ext uri="{FF2B5EF4-FFF2-40B4-BE49-F238E27FC236}">
                <a16:creationId xmlns:a16="http://schemas.microsoft.com/office/drawing/2014/main" id="{C17DDA88-9425-4315-A94F-97BCD98A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038850"/>
            <a:ext cx="66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8B"/>
          </a:solidFill>
          <a:ln xmlns:a="http://schemas.openxmlformats.org/drawingml/2006/main" w="15240">
            <a:solidFill>
              <a:srgbClr val="D99550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9" name="s-shape">
            <a:extLst xmlns:a="http://schemas.openxmlformats.org/drawingml/2006/main">
              <a:ext uri="{FF2B5EF4-FFF2-40B4-BE49-F238E27FC236}">
                <a16:creationId xmlns:a16="http://schemas.microsoft.com/office/drawing/2014/main" id="{4AA21F22-D6E7-4612-83DE-C3F0C29D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9532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B×32×H×W</a:t>
            </a:r>
          </a:p>
        </p:txBody>
      </p:sp>
      <p:sp>
        <p:nvSpPr>
          <p:cNvPr id="30" name="scharr-x">
            <a:extLst xmlns:a="http://schemas.openxmlformats.org/drawingml/2006/main">
              <a:ext uri="{FF2B5EF4-FFF2-40B4-BE49-F238E27FC236}">
                <a16:creationId xmlns:a16="http://schemas.microsoft.com/office/drawing/2014/main" id="{2F8B174F-E2FA-4D40-B483-E1361E03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19275"/>
            <a:ext cx="1714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D9DE"/>
          </a:solidFill>
          <a:ln xmlns:a="http://schemas.openxmlformats.org/drawingml/2006/main" w="17145">
            <a:solidFill>
              <a:srgbClr val="C87989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987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Fixed DW Scharr-X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3×3 · groups = 32</a:t>
            </a:r>
          </a:p>
        </p:txBody>
      </p:sp>
      <p:sp>
        <p:nvSpPr>
          <p:cNvPr id="31" name="scharr-y">
            <a:extLst xmlns:a="http://schemas.openxmlformats.org/drawingml/2006/main">
              <a:ext uri="{FF2B5EF4-FFF2-40B4-BE49-F238E27FC236}">
                <a16:creationId xmlns:a16="http://schemas.microsoft.com/office/drawing/2014/main" id="{65D3A461-630B-4A57-8317-0B8907EB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05150"/>
            <a:ext cx="1714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D9DE"/>
          </a:solidFill>
          <a:ln xmlns:a="http://schemas.openxmlformats.org/drawingml/2006/main" w="17145">
            <a:solidFill>
              <a:srgbClr val="C87989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987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Fixed DW Scharr-Y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3×3 · groups = 32</a:t>
            </a:r>
          </a:p>
        </p:txBody>
      </p:sp>
      <p:sp>
        <p:nvSpPr>
          <p:cNvPr id="32" name="edge-magnitude">
            <a:extLst xmlns:a="http://schemas.openxmlformats.org/drawingml/2006/main">
              <a:ext uri="{FF2B5EF4-FFF2-40B4-BE49-F238E27FC236}">
                <a16:creationId xmlns:a16="http://schemas.microsoft.com/office/drawing/2014/main" id="{8C11EA62-C443-464A-B34D-FFC1FBFD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19350"/>
            <a:ext cx="19240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3B7C1"/>
          </a:solidFill>
          <a:ln xmlns:a="http://schemas.openxmlformats.org/drawingml/2006/main" w="17145">
            <a:solidFill>
              <a:srgbClr val="C87989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Edge Magnitude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E = √(G_x² + G_y² + ε)</a:t>
            </a:r>
          </a:p>
        </p:txBody>
      </p:sp>
      <p:sp>
        <p:nvSpPr>
          <p:cNvPr id="33" name="edge-projection">
            <a:extLst xmlns:a="http://schemas.openxmlformats.org/drawingml/2006/main">
              <a:ext uri="{FF2B5EF4-FFF2-40B4-BE49-F238E27FC236}">
                <a16:creationId xmlns:a16="http://schemas.microsoft.com/office/drawing/2014/main" id="{A3309E9A-0156-4113-8903-A69EC905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19350"/>
            <a:ext cx="11811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9D9DE"/>
          </a:solidFill>
          <a:ln xmlns:a="http://schemas.openxmlformats.org/drawingml/2006/main" w="17145">
            <a:solidFill>
              <a:srgbClr val="C87989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827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Edge Projection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1×1 Conv · 32 → 256</a:t>
            </a:r>
          </a:p>
        </p:txBody>
      </p:sp>
      <p:sp>
        <p:nvSpPr>
          <p:cNvPr id="34" name="scharr-note">
            <a:extLst xmlns:a="http://schemas.openxmlformats.org/drawingml/2006/main">
              <a:ext uri="{FF2B5EF4-FFF2-40B4-BE49-F238E27FC236}">
                <a16:creationId xmlns:a16="http://schemas.microsoft.com/office/drawing/2014/main" id="{DC44F986-FCF9-423D-9ECB-ACE475BF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86200"/>
            <a:ext cx="485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8756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75664"/>
                </a:solidFill>
                <a:latin typeface="Arial"/>
                <a:ea typeface="Arial"/>
                <a:cs typeface="Arial"/>
              </a:rPr>
              <a:t>Fixed, non-learnable · L1-normalized kernels</a:t>
            </a:r>
          </a:p>
        </p:txBody>
      </p:sp>
      <p:sp>
        <p:nvSpPr>
          <p:cNvPr id="35" name="ep-map-sheet-1">
            <a:extLst xmlns:a="http://schemas.openxmlformats.org/drawingml/2006/main">
              <a:ext uri="{FF2B5EF4-FFF2-40B4-BE49-F238E27FC236}">
                <a16:creationId xmlns:a16="http://schemas.microsoft.com/office/drawing/2014/main" id="{482FCD40-0AED-49D6-8E84-CEE9AEF9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71875"/>
            <a:ext cx="590550" cy="7620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C87989"/>
            </a:solidFill>
            <a:prstDash val="solid"/>
          </a:ln>
        </p:spPr>
      </p:sp>
      <p:sp>
        <p:nvSpPr>
          <p:cNvPr id="36" name="ep-map-sheet-2">
            <a:extLst xmlns:a="http://schemas.openxmlformats.org/drawingml/2006/main">
              <a:ext uri="{FF2B5EF4-FFF2-40B4-BE49-F238E27FC236}">
                <a16:creationId xmlns:a16="http://schemas.microsoft.com/office/drawing/2014/main" id="{7A7B5DFD-6EFC-4AB0-97CA-4A878A94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38550"/>
            <a:ext cx="590550" cy="7620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C87989"/>
            </a:solidFill>
            <a:prstDash val="solid"/>
          </a:ln>
        </p:spPr>
      </p:sp>
      <p:sp>
        <p:nvSpPr>
          <p:cNvPr id="37" name="ep-map-sheet-3">
            <a:extLst xmlns:a="http://schemas.openxmlformats.org/drawingml/2006/main">
              <a:ext uri="{FF2B5EF4-FFF2-40B4-BE49-F238E27FC236}">
                <a16:creationId xmlns:a16="http://schemas.microsoft.com/office/drawing/2014/main" id="{CC2CDD4C-6EFD-4E1A-8356-4D3876A6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05225"/>
            <a:ext cx="590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7C1"/>
          </a:solidFill>
          <a:ln xmlns:a="http://schemas.openxmlformats.org/drawingml/2006/main" w="15240">
            <a:solidFill>
              <a:srgbClr val="C87989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E_p</a:t>
            </a:r>
          </a:p>
        </p:txBody>
      </p:sp>
      <p:sp>
        <p:nvSpPr>
          <p:cNvPr id="38" name="ep-shape">
            <a:extLst xmlns:a="http://schemas.openxmlformats.org/drawingml/2006/main">
              <a:ext uri="{FF2B5EF4-FFF2-40B4-BE49-F238E27FC236}">
                <a16:creationId xmlns:a16="http://schemas.microsoft.com/office/drawing/2014/main" id="{2AA7D58D-7139-4CAE-A8F2-470F9425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243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B×256×H×W</a:t>
            </a:r>
          </a:p>
        </p:txBody>
      </p:sp>
      <p:sp>
        <p:nvSpPr>
          <p:cNvPr id="39" name="cosine-similarity">
            <a:extLst xmlns:a="http://schemas.openxmlformats.org/drawingml/2006/main">
              <a:ext uri="{FF2B5EF4-FFF2-40B4-BE49-F238E27FC236}">
                <a16:creationId xmlns:a16="http://schemas.microsoft.com/office/drawing/2014/main" id="{0996A368-1E7B-4FA8-A3D5-1FAE1F43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57825"/>
            <a:ext cx="16573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8ECD3"/>
          </a:solidFill>
          <a:ln xmlns:a="http://schemas.openxmlformats.org/drawingml/2006/main" w="17145">
            <a:solidFill>
              <a:srgbClr val="75A96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Channel-wise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Cosine Similarity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C = cos(L, S)</a:t>
            </a:r>
          </a:p>
        </p:txBody>
      </p:sp>
      <p:sp>
        <p:nvSpPr>
          <p:cNvPr id="40" name="semantic-gate">
            <a:extLst xmlns:a="http://schemas.openxmlformats.org/drawingml/2006/main">
              <a:ext uri="{FF2B5EF4-FFF2-40B4-BE49-F238E27FC236}">
                <a16:creationId xmlns:a16="http://schemas.microsoft.com/office/drawing/2014/main" id="{C80DBAC6-0EA4-4306-A403-03FACEF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419725"/>
            <a:ext cx="18669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B8DFAE"/>
          </a:solidFill>
          <a:ln xmlns:a="http://schemas.openxmlformats.org/drawingml/2006/main" w="17145">
            <a:solidFill>
              <a:srgbClr val="75A96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Semantic Gate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G = σ(a·cos(L,S) + b)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a, b learnable</a:t>
            </a:r>
          </a:p>
        </p:txBody>
      </p:sp>
      <p:sp>
        <p:nvSpPr>
          <p:cNvPr id="41" name="g-map-sheet-1">
            <a:extLst xmlns:a="http://schemas.openxmlformats.org/drawingml/2006/main">
              <a:ext uri="{FF2B5EF4-FFF2-40B4-BE49-F238E27FC236}">
                <a16:creationId xmlns:a16="http://schemas.microsoft.com/office/drawing/2014/main" id="{C4262F90-BF29-4DB1-8791-ECF1EEB3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438775"/>
            <a:ext cx="590550" cy="7239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75A968"/>
            </a:solidFill>
            <a:prstDash val="solid"/>
          </a:ln>
        </p:spPr>
      </p:sp>
      <p:sp>
        <p:nvSpPr>
          <p:cNvPr id="42" name="g-map-sheet-2">
            <a:extLst xmlns:a="http://schemas.openxmlformats.org/drawingml/2006/main">
              <a:ext uri="{FF2B5EF4-FFF2-40B4-BE49-F238E27FC236}">
                <a16:creationId xmlns:a16="http://schemas.microsoft.com/office/drawing/2014/main" id="{A3D90BE5-CD21-4E87-851C-E3B73FB4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05450"/>
            <a:ext cx="590550" cy="7239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75A968"/>
            </a:solidFill>
            <a:prstDash val="solid"/>
          </a:ln>
        </p:spPr>
      </p:sp>
      <p:sp>
        <p:nvSpPr>
          <p:cNvPr id="43" name="g-map-sheet-3">
            <a:extLst xmlns:a="http://schemas.openxmlformats.org/drawingml/2006/main">
              <a:ext uri="{FF2B5EF4-FFF2-40B4-BE49-F238E27FC236}">
                <a16:creationId xmlns:a16="http://schemas.microsoft.com/office/drawing/2014/main" id="{369469F9-8ACD-4B5E-90EF-8BEBEB16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72125"/>
            <a:ext cx="590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FAE"/>
          </a:solidFill>
          <a:ln xmlns:a="http://schemas.openxmlformats.org/drawingml/2006/main" w="15240">
            <a:solidFill>
              <a:srgbClr val="75A968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4" name="g-shape">
            <a:extLst xmlns:a="http://schemas.openxmlformats.org/drawingml/2006/main">
              <a:ext uri="{FF2B5EF4-FFF2-40B4-BE49-F238E27FC236}">
                <a16:creationId xmlns:a16="http://schemas.microsoft.com/office/drawing/2014/main" id="{69E7CC56-F8BC-455C-9950-5CB78036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33412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68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B×1×H×W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channel broadcast</a:t>
            </a:r>
          </a:p>
        </p:txBody>
      </p:sp>
      <p:sp>
        <p:nvSpPr>
          <p:cNvPr id="45" name="gated-product">
            <a:extLst xmlns:a="http://schemas.openxmlformats.org/drawingml/2006/main">
              <a:ext uri="{FF2B5EF4-FFF2-40B4-BE49-F238E27FC236}">
                <a16:creationId xmlns:a16="http://schemas.microsoft.com/office/drawing/2014/main" id="{FB561AD5-2E88-4BDC-A502-19FE4D18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5529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5E8"/>
          </a:solidFill>
          <a:ln xmlns:a="http://schemas.openxmlformats.org/drawingml/2006/main" w="20955">
            <a:solidFill>
              <a:srgbClr val="9275A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⊗</a:t>
            </a:r>
          </a:p>
        </p:txBody>
      </p:sp>
      <p:sp>
        <p:nvSpPr>
          <p:cNvPr id="46" name="gamma-scale">
            <a:extLst xmlns:a="http://schemas.openxmlformats.org/drawingml/2006/main">
              <a:ext uri="{FF2B5EF4-FFF2-40B4-BE49-F238E27FC236}">
                <a16:creationId xmlns:a16="http://schemas.microsoft.com/office/drawing/2014/main" id="{142C7DD7-64C0-4183-A1A0-85D77DF7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600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F6"/>
          </a:solidFill>
          <a:ln xmlns:a="http://schemas.openxmlformats.org/drawingml/2006/main" w="17145">
            <a:solidFill>
              <a:srgbClr val="9275A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02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γ</a:t>
            </a:r>
          </a:p>
        </p:txBody>
      </p:sp>
      <p:sp>
        <p:nvSpPr>
          <p:cNvPr id="47" name="gamma-note">
            <a:extLst xmlns:a="http://schemas.openxmlformats.org/drawingml/2006/main">
              <a:ext uri="{FF2B5EF4-FFF2-40B4-BE49-F238E27FC236}">
                <a16:creationId xmlns:a16="http://schemas.microsoft.com/office/drawing/2014/main" id="{07453148-1E97-442A-AC5C-F82161F1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095875"/>
            <a:ext cx="81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D567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67E"/>
                </a:solidFill>
                <a:latin typeface="Arial"/>
                <a:ea typeface="Arial"/>
                <a:cs typeface="Arial"/>
              </a:rPr>
              <a:t>learnable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D567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67E"/>
                </a:solidFill>
                <a:latin typeface="Arial"/>
                <a:ea typeface="Arial"/>
                <a:cs typeface="Arial"/>
              </a:rPr>
              <a:t>init = 0</a:t>
            </a:r>
          </a:p>
        </p:txBody>
      </p:sp>
      <p:sp>
        <p:nvSpPr>
          <p:cNvPr id="48" name="residual-add">
            <a:extLst xmlns:a="http://schemas.openxmlformats.org/drawingml/2006/main">
              <a:ext uri="{FF2B5EF4-FFF2-40B4-BE49-F238E27FC236}">
                <a16:creationId xmlns:a16="http://schemas.microsoft.com/office/drawing/2014/main" id="{8978B7FF-0BDA-494D-A41C-67EA48CD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5529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5E8"/>
          </a:solidFill>
          <a:ln xmlns:a="http://schemas.openxmlformats.org/drawingml/2006/main" w="20955">
            <a:solidFill>
              <a:srgbClr val="9275A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⊕</a:t>
            </a:r>
          </a:p>
        </p:txBody>
      </p:sp>
      <p:sp>
        <p:nvSpPr>
          <p:cNvPr id="49" name="fusion-equation">
            <a:extLst xmlns:a="http://schemas.openxmlformats.org/drawingml/2006/main">
              <a:ext uri="{FF2B5EF4-FFF2-40B4-BE49-F238E27FC236}">
                <a16:creationId xmlns:a16="http://schemas.microsoft.com/office/drawing/2014/main" id="{D18DEB67-051E-4F92-8F35-536B6A31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1150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Y = X_l + γ(E_p ⊙ G)</a:t>
            </a:r>
          </a:p>
        </p:txBody>
      </p:sp>
      <p:sp>
        <p:nvSpPr>
          <p:cNvPr id="50" name="y-map-sheet-1">
            <a:extLst xmlns:a="http://schemas.openxmlformats.org/drawingml/2006/main">
              <a:ext uri="{FF2B5EF4-FFF2-40B4-BE49-F238E27FC236}">
                <a16:creationId xmlns:a16="http://schemas.microsoft.com/office/drawing/2014/main" id="{615F9EB8-A125-457E-A9F2-09BC6436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610350"/>
            <a:ext cx="628650" cy="8382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5DA9A3"/>
            </a:solidFill>
            <a:prstDash val="solid"/>
          </a:ln>
        </p:spPr>
      </p:sp>
      <p:sp>
        <p:nvSpPr>
          <p:cNvPr id="51" name="y-map-sheet-2">
            <a:extLst xmlns:a="http://schemas.openxmlformats.org/drawingml/2006/main">
              <a:ext uri="{FF2B5EF4-FFF2-40B4-BE49-F238E27FC236}">
                <a16:creationId xmlns:a16="http://schemas.microsoft.com/office/drawing/2014/main" id="{0D5BABD3-FBFE-4FC6-901A-8F18327C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677025"/>
            <a:ext cx="628650" cy="8382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5DA9A3"/>
            </a:solidFill>
            <a:prstDash val="solid"/>
          </a:ln>
        </p:spPr>
      </p:sp>
      <p:sp>
        <p:nvSpPr>
          <p:cNvPr id="52" name="y-map-sheet-3">
            <a:extLst xmlns:a="http://schemas.openxmlformats.org/drawingml/2006/main">
              <a:ext uri="{FF2B5EF4-FFF2-40B4-BE49-F238E27FC236}">
                <a16:creationId xmlns:a16="http://schemas.microsoft.com/office/drawing/2014/main" id="{7C363128-558F-4A1C-AD2D-DF43CBDC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6743700"/>
            <a:ext cx="628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EDA"/>
          </a:solidFill>
          <a:ln xmlns:a="http://schemas.openxmlformats.org/drawingml/2006/main" w="15240">
            <a:solidFill>
              <a:srgbClr val="5DA9A3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53" name="y-label">
            <a:extLst xmlns:a="http://schemas.openxmlformats.org/drawingml/2006/main">
              <a:ext uri="{FF2B5EF4-FFF2-40B4-BE49-F238E27FC236}">
                <a16:creationId xmlns:a16="http://schemas.microsoft.com/office/drawing/2014/main" id="{8FA458E7-8E9A-48FB-B4F5-43313CF5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6867525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356F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6F6A"/>
                </a:solidFill>
                <a:latin typeface="Arial"/>
                <a:ea typeface="Arial"/>
                <a:cs typeface="Arial"/>
              </a:rPr>
              <a:t>Enhanced S3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356F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6F6A"/>
                </a:solidFill>
                <a:latin typeface="Arial"/>
                <a:ea typeface="Arial"/>
                <a:cs typeface="Arial"/>
              </a:rPr>
              <a:t>B×256×H×W</a:t>
            </a:r>
          </a:p>
        </p:txBody>
      </p:sp>
      <p:sp>
        <p:nvSpPr>
          <p:cNvPr id="54" name="output-only-note">
            <a:extLst xmlns:a="http://schemas.openxmlformats.org/drawingml/2006/main">
              <a:ext uri="{FF2B5EF4-FFF2-40B4-BE49-F238E27FC236}">
                <a16:creationId xmlns:a16="http://schemas.microsoft.com/office/drawing/2014/main" id="{A7DC6DF1-A284-4A0E-8330-38CC259E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5817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B7E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E7B"/>
                </a:solidFill>
                <a:latin typeface="Arial"/>
                <a:ea typeface="Arial"/>
                <a:cs typeface="Arial"/>
              </a:rPr>
              <a:t>CSCEF output only</a:t>
            </a:r>
          </a:p>
        </p:txBody>
      </p:sp>
      <p:sp>
        <p:nvSpPr>
          <p:cNvPr id="55" name="ccff-context-boundary">
            <a:extLst xmlns:a="http://schemas.openxmlformats.org/drawingml/2006/main">
              <a:ext uri="{FF2B5EF4-FFF2-40B4-BE49-F238E27FC236}">
                <a16:creationId xmlns:a16="http://schemas.microsoft.com/office/drawing/2014/main" id="{8D484E1C-8654-4C10-8455-35A9A60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905250"/>
            <a:ext cx="1971675" cy="4095750"/>
          </a:xfrm>
          <a:prstGeom xmlns:a="http://schemas.openxmlformats.org/drawingml/2006/main" prst="roundRect">
            <a:avLst>
              <a:gd name="adj" fmla="val 4831"/>
            </a:avLst>
          </a:prstGeom>
          <a:ln xmlns:a="http://schemas.openxmlformats.org/drawingml/2006/main" w="14288">
            <a:solidFill>
              <a:srgbClr val="A0A5AA"/>
            </a:solidFill>
            <a:prstDash val="dash"/>
          </a:ln>
        </p:spPr>
      </p:sp>
      <p:sp>
        <p:nvSpPr>
          <p:cNvPr id="56" name="ccff-context-title">
            <a:extLst xmlns:a="http://schemas.openxmlformats.org/drawingml/2006/main">
              <a:ext uri="{FF2B5EF4-FFF2-40B4-BE49-F238E27FC236}">
                <a16:creationId xmlns:a16="http://schemas.microsoft.com/office/drawing/2014/main" id="{F019F53E-340E-4D32-BBE4-5C2AB038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0481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777D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77D82"/>
                </a:solidFill>
                <a:latin typeface="Arial"/>
                <a:ea typeface="Arial"/>
                <a:cs typeface="Arial"/>
              </a:rPr>
              <a:t>CCFF context</a:t>
            </a:r>
          </a:p>
        </p:txBody>
      </p:sp>
      <p:sp>
        <p:nvSpPr>
          <p:cNvPr id="57" name="context-concat">
            <a:extLst xmlns:a="http://schemas.openxmlformats.org/drawingml/2006/main">
              <a:ext uri="{FF2B5EF4-FFF2-40B4-BE49-F238E27FC236}">
                <a16:creationId xmlns:a16="http://schemas.microsoft.com/office/drawing/2014/main" id="{9B850040-4FF8-4E5E-BD65-7D8A4AC8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6934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20955">
            <a:solidFill>
              <a:srgbClr val="A0A5AA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281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F3F3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concat-label">
            <a:extLst xmlns:a="http://schemas.openxmlformats.org/drawingml/2006/main">
              <a:ext uri="{FF2B5EF4-FFF2-40B4-BE49-F238E27FC236}">
                <a16:creationId xmlns:a16="http://schemas.microsoft.com/office/drawing/2014/main" id="{2A5B039F-FED0-40DB-8184-74F31A5F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025" y="66484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478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4787C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59" name="context-repc3">
            <a:extLst xmlns:a="http://schemas.openxmlformats.org/drawingml/2006/main">
              <a:ext uri="{FF2B5EF4-FFF2-40B4-BE49-F238E27FC236}">
                <a16:creationId xmlns:a16="http://schemas.microsoft.com/office/drawing/2014/main" id="{3AFEF572-6B06-4329-A8B2-05C373B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896100"/>
            <a:ext cx="86677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17145">
            <a:solidFill>
              <a:srgbClr val="A0A5A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6E73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7377"/>
                </a:solidFill>
                <a:latin typeface="Arial"/>
                <a:ea typeface="Arial"/>
                <a:cs typeface="Arial"/>
              </a:rPr>
              <a:t>RepC3</a:t>
            </a:r>
          </a:p>
        </p:txBody>
      </p:sp>
      <p:sp>
        <p:nvSpPr>
          <p:cNvPr id="60" name="context-preserved-label">
            <a:extLst xmlns:a="http://schemas.openxmlformats.org/drawingml/2006/main">
              <a:ext uri="{FF2B5EF4-FFF2-40B4-BE49-F238E27FC236}">
                <a16:creationId xmlns:a16="http://schemas.microsoft.com/office/drawing/2014/main" id="{B35A1CAA-EEB7-4C1F-BCEC-1D26D42E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5876925"/>
            <a:ext cx="1685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8A6D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6D4A"/>
                </a:solidFill>
                <a:latin typeface="Arial"/>
                <a:ea typeface="Arial"/>
                <a:cs typeface="Arial"/>
              </a:rPr>
              <a:t>Upsampled P4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8A6D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6D4A"/>
                </a:solidFill>
                <a:latin typeface="Arial"/>
                <a:ea typeface="Arial"/>
                <a:cs typeface="Arial"/>
              </a:rPr>
              <a:t>preserved path</a:t>
            </a:r>
          </a:p>
        </p:txBody>
      </p:sp>
      <p:sp>
        <p:nvSpPr>
          <p:cNvPr id="61" name="context-output-label">
            <a:extLst xmlns:a="http://schemas.openxmlformats.org/drawingml/2006/main">
              <a:ext uri="{FF2B5EF4-FFF2-40B4-BE49-F238E27FC236}">
                <a16:creationId xmlns:a16="http://schemas.microsoft.com/office/drawing/2014/main" id="{529B737B-6306-44F9-B682-CB6D8060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47712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8186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1868A"/>
                </a:solidFill>
                <a:latin typeface="Arial"/>
                <a:ea typeface="Arial"/>
                <a:cs typeface="Arial"/>
              </a:rPr>
              <a:t>toward P3</a:t>
            </a:r>
          </a:p>
        </p:txBody>
      </p:sp>
      <p:cxnSp>
        <p:nvCxnSpPr>
          <p:cNvPr id="158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485900" y="2952750"/>
            <a:ext cx="466725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50586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9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419475" y="3009900"/>
            <a:ext cx="34290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50586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0" name=""/>
          <p:cNvCxnSpPr>
            <a:stCxn xmlns:a="http://schemas.openxmlformats.org/drawingml/2006/main" id="17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485900" y="6438900"/>
            <a:ext cx="46672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8A6D4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1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419475" y="6448425"/>
            <a:ext cx="3429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8A6D4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2" name=""/>
          <p:cNvCxnSpPr>
            <a:stCxn xmlns:a="http://schemas.openxmlformats.org/drawingml/2006/main" id="22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4429125" y="2152650"/>
            <a:ext cx="57150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50586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3" name=""/>
          <p:cNvCxnSpPr>
            <a:stCxn xmlns:a="http://schemas.openxmlformats.org/drawingml/2006/main" id="22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4429125" y="3048000"/>
            <a:ext cx="571500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50586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4" name=""/>
          <p:cNvCxnSpPr>
            <a:stCxn xmlns:a="http://schemas.openxmlformats.org/drawingml/2006/main" id="30" idx="3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6715125" y="2152650"/>
            <a:ext cx="1219200" cy="266700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50586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5" name=""/>
          <p:cNvCxnSpPr>
            <a:stCxn xmlns:a="http://schemas.openxmlformats.org/drawingml/2006/main" id="31" idx="3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V="1">
            <a:off x="6715125" y="3219450"/>
            <a:ext cx="1219200" cy="21907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50586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6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896350" y="28194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0586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7" name=""/>
          <p:cNvCxnSpPr>
            <a:stCxn xmlns:a="http://schemas.openxmlformats.org/drawingml/2006/main" id="33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9658350" y="3219450"/>
            <a:ext cx="428625" cy="485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C8798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8" name=""/>
          <p:cNvCxnSpPr>
            <a:stCxn xmlns:a="http://schemas.openxmlformats.org/drawingml/2006/main" id="22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4095750" y="3467100"/>
            <a:ext cx="2390775" cy="1990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5A96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9" name=""/>
          <p:cNvCxnSpPr>
            <a:stCxn xmlns:a="http://schemas.openxmlformats.org/drawingml/2006/main" id="2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4429125" y="5934075"/>
            <a:ext cx="1228725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5A96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0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7315200" y="5934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A96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1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610725" y="59340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A96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2" name=""/>
          <p:cNvCxnSpPr>
            <a:stCxn xmlns:a="http://schemas.openxmlformats.org/drawingml/2006/main" id="37" idx="3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10382250" y="4086225"/>
            <a:ext cx="690563" cy="4667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9275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3" name=""/>
          <p:cNvCxnSpPr>
            <a:stCxn xmlns:a="http://schemas.openxmlformats.org/drawingml/2006/main" id="43" idx="3"/>
            <a:endCxn xmlns:a="http://schemas.openxmlformats.org/drawingml/2006/main" id="45" idx="4"/>
          </p:cNvCxnSpPr>
          <p:nvPr/>
        </p:nvCxnSpPr>
        <p:spPr>
          <a:xfrm xmlns:a="http://schemas.openxmlformats.org/drawingml/2006/main" flipV="1">
            <a:off x="10277475" y="5076825"/>
            <a:ext cx="795338" cy="857250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9275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4" name=""/>
          <p:cNvCxnSpPr>
            <a:stCxn xmlns:a="http://schemas.openxmlformats.org/drawingml/2006/main" id="45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>
            <a:off x="11334750" y="4814888"/>
            <a:ext cx="19050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9275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5" name=""/>
          <p:cNvCxnSpPr>
            <a:stCxn xmlns:a="http://schemas.openxmlformats.org/drawingml/2006/main" id="46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 flipV="1">
            <a:off x="11963400" y="4814888"/>
            <a:ext cx="13335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9275A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0" name="identity-waypoint-left">
            <a:extLst xmlns:a="http://schemas.openxmlformats.org/drawingml/2006/main">
              <a:ext uri="{FF2B5EF4-FFF2-40B4-BE49-F238E27FC236}">
                <a16:creationId xmlns:a16="http://schemas.microsoft.com/office/drawing/2014/main" id="{57310908-DC55-4B79-A4BA-1B1E0D8F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identity-waypoint-rise">
            <a:extLst xmlns:a="http://schemas.openxmlformats.org/drawingml/2006/main">
              <a:ext uri="{FF2B5EF4-FFF2-40B4-BE49-F238E27FC236}">
                <a16:creationId xmlns:a16="http://schemas.microsoft.com/office/drawing/2014/main" id="{0A9317D2-EFDD-43E9-9C8E-8DC73F1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573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identity-waypoint-upper-left">
            <a:extLst xmlns:a="http://schemas.openxmlformats.org/drawingml/2006/main">
              <a:ext uri="{FF2B5EF4-FFF2-40B4-BE49-F238E27FC236}">
                <a16:creationId xmlns:a16="http://schemas.microsoft.com/office/drawing/2014/main" id="{E8E1BC6F-43D5-48E8-8292-342B427F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47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identity-waypoint-upper-right">
            <a:extLst xmlns:a="http://schemas.openxmlformats.org/drawingml/2006/main">
              <a:ext uri="{FF2B5EF4-FFF2-40B4-BE49-F238E27FC236}">
                <a16:creationId xmlns:a16="http://schemas.microsoft.com/office/drawing/2014/main" id="{9CC62B6A-71CF-4133-9B9A-230EE0F5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1047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0" name=""/>
          <p:cNvCxnSpPr>
            <a:stCxn xmlns:a="http://schemas.openxmlformats.org/drawingml/2006/main" id="13" idx="0"/>
            <a:endCxn xmlns:a="http://schemas.openxmlformats.org/drawingml/2006/main" id="80" idx="4"/>
          </p:cNvCxnSpPr>
          <p:nvPr/>
        </p:nvCxnSpPr>
        <p:spPr>
          <a:xfrm xmlns:a="http://schemas.openxmlformats.org/drawingml/2006/main" flipV="1">
            <a:off x="1019175" y="14763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0586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81" name=""/>
          <p:cNvCxnSpPr>
            <a:stCxn xmlns:a="http://schemas.openxmlformats.org/drawingml/2006/main" id="80" idx="6"/>
            <a:endCxn xmlns:a="http://schemas.openxmlformats.org/drawingml/2006/main" id="81" idx="2"/>
          </p:cNvCxnSpPr>
          <p:nvPr/>
        </p:nvCxnSpPr>
        <p:spPr>
          <a:xfrm xmlns:a="http://schemas.openxmlformats.org/drawingml/2006/main">
            <a:off x="1028700" y="1466850"/>
            <a:ext cx="3257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0586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82" name=""/>
          <p:cNvCxnSpPr>
            <a:stCxn xmlns:a="http://schemas.openxmlformats.org/drawingml/2006/main" id="81" idx="0"/>
            <a:endCxn xmlns:a="http://schemas.openxmlformats.org/drawingml/2006/main" id="82" idx="4"/>
          </p:cNvCxnSpPr>
          <p:nvPr/>
        </p:nvCxnSpPr>
        <p:spPr>
          <a:xfrm xmlns:a="http://schemas.openxmlformats.org/drawingml/2006/main" flipV="1">
            <a:off x="4295775" y="10668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0586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83" name=""/>
          <p:cNvCxnSpPr>
            <a:stCxn xmlns:a="http://schemas.openxmlformats.org/drawingml/2006/main" id="82" idx="6"/>
            <a:endCxn xmlns:a="http://schemas.openxmlformats.org/drawingml/2006/main" id="83" idx="2"/>
          </p:cNvCxnSpPr>
          <p:nvPr/>
        </p:nvCxnSpPr>
        <p:spPr>
          <a:xfrm xmlns:a="http://schemas.openxmlformats.org/drawingml/2006/main">
            <a:off x="4305300" y="1057275"/>
            <a:ext cx="8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0586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84" name=""/>
          <p:cNvCxnSpPr>
            <a:stCxn xmlns:a="http://schemas.openxmlformats.org/drawingml/2006/main" id="83" idx="4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12353925" y="1066800"/>
            <a:ext cx="4763" cy="34861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0586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5" name=""/>
          <p:cNvCxnSpPr>
            <a:stCxn xmlns:a="http://schemas.openxmlformats.org/drawingml/2006/main" id="48" idx="4"/>
            <a:endCxn xmlns:a="http://schemas.openxmlformats.org/drawingml/2006/main" id="52" idx="0"/>
          </p:cNvCxnSpPr>
          <p:nvPr/>
        </p:nvCxnSpPr>
        <p:spPr>
          <a:xfrm xmlns:a="http://schemas.openxmlformats.org/drawingml/2006/main" flipH="1">
            <a:off x="12268200" y="5076825"/>
            <a:ext cx="90488" cy="1666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5DA9A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6" name=""/>
          <p:cNvCxnSpPr>
            <a:stCxn xmlns:a="http://schemas.openxmlformats.org/drawingml/2006/main" id="52" idx="3"/>
            <a:endCxn xmlns:a="http://schemas.openxmlformats.org/drawingml/2006/main" id="57" idx="2"/>
          </p:cNvCxnSpPr>
          <p:nvPr/>
        </p:nvCxnSpPr>
        <p:spPr>
          <a:xfrm xmlns:a="http://schemas.openxmlformats.org/drawingml/2006/main">
            <a:off x="12582525" y="71628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0A5A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1" name="preserved-p4-waypoint-left">
            <a:extLst xmlns:a="http://schemas.openxmlformats.org/drawingml/2006/main">
              <a:ext uri="{FF2B5EF4-FFF2-40B4-BE49-F238E27FC236}">
                <a16:creationId xmlns:a16="http://schemas.microsoft.com/office/drawing/2014/main" id="{99C2D84F-3517-4A58-9ABC-B648FB39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858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preserved-p4-waypoint-right">
            <a:extLst xmlns:a="http://schemas.openxmlformats.org/drawingml/2006/main">
              <a:ext uri="{FF2B5EF4-FFF2-40B4-BE49-F238E27FC236}">
                <a16:creationId xmlns:a16="http://schemas.microsoft.com/office/drawing/2014/main" id="{79594D6A-3F7C-4384-B46A-78DEB838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7858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9" name=""/>
          <p:cNvCxnSpPr>
            <a:stCxn xmlns:a="http://schemas.openxmlformats.org/drawingml/2006/main" id="17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1019175" y="700087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0A5A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0" name=""/>
          <p:cNvCxnSpPr>
            <a:stCxn xmlns:a="http://schemas.openxmlformats.org/drawingml/2006/main" id="91" idx="6"/>
            <a:endCxn xmlns:a="http://schemas.openxmlformats.org/drawingml/2006/main" id="92" idx="2"/>
          </p:cNvCxnSpPr>
          <p:nvPr/>
        </p:nvCxnSpPr>
        <p:spPr>
          <a:xfrm xmlns:a="http://schemas.openxmlformats.org/drawingml/2006/main">
            <a:off x="1028700" y="7867650"/>
            <a:ext cx="125063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0A5A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1" name=""/>
          <p:cNvCxnSpPr>
            <a:stCxn xmlns:a="http://schemas.openxmlformats.org/drawingml/2006/main" id="92" idx="0"/>
            <a:endCxn xmlns:a="http://schemas.openxmlformats.org/drawingml/2006/main" id="57" idx="4"/>
          </p:cNvCxnSpPr>
          <p:nvPr/>
        </p:nvCxnSpPr>
        <p:spPr>
          <a:xfrm xmlns:a="http://schemas.openxmlformats.org/drawingml/2006/main" flipV="1">
            <a:off x="13544550" y="7391400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0A5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2" name=""/>
          <p:cNvCxnSpPr>
            <a:stCxn xmlns:a="http://schemas.openxmlformats.org/drawingml/2006/main" id="57" idx="6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13773150" y="71628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0A5AA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552482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2026-09-01T10:02:25.1760000Z</dcterms:created>
  <dcterms:modified xsi:type="dcterms:W3CDTF">2026-09-01T10:02:25.1760000Z</dcterms:modified>
</coreProperties>
</file>